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2a00b38-042a-951b-2949-c1402c855fb3}">
          <p14:sldIdLst>
            <p14:sldId id="256"/>
          </p14:sldIdLst>
        </p14:section>
        <p14:section name="Why Bite Wise" id="{3ff2029e-52dd-1e93-f633-d3e1b201cadf}">
          <p14:sldIdLst>
            <p14:sldId id="257"/>
            <p14:sldId id="258"/>
          </p14:sldIdLst>
        </p14:section>
        <p14:section name="The product" id="{c36b2471-12e8-c766-1043-b08eb2ebd87e}">
          <p14:sldIdLst>
            <p14:sldId id="259"/>
            <p14:sldId id="260"/>
            <p14:sldId id="261"/>
          </p14:sldIdLst>
        </p14:section>
        <p14:section name="Pricing" id="{73460876-97b1-45a4-746f-93cf7332ebfa}">
          <p14:sldIdLst>
            <p14:sldId id="262"/>
            <p14:sldId id="263"/>
          </p14:sldIdLst>
        </p14:section>
        <p14:section name="Trust" id="{acf22d6f-c63e-9191-36c0-97f1176e8a27}">
          <p14:sldIdLst>
            <p14:sldId id="264"/>
          </p14:sldIdLst>
        </p14:section>
        <p14:section name="Next steps" id="{e20b1e27-2cdb-9cd3-18c3-1620e302688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A1A0E"/>
                </a:solidFill>
                <a:latin typeface="+mn-lt"/>
              </a:defRPr>
            </a:pPr>
            <a:r>
              <a:rPr sz="1600" b="0" i="0" u="none" strike="noStrike">
                <a:solidFill>
                  <a:srgbClr val="2A1A0E"/>
                </a:solidFill>
                <a:latin typeface="+mn-lt"/>
              </a:rPr>
              <a:t>Per month, in dollars</a:t>
            </a:r>
          </a:p>
        </c:rich>
      </c:tx>
      <c:layout/>
      <c:overlay val="0"/>
    </c:title>
    <c:autoTitleDeleted val="0"/>
    <c:plotArea>
      <c:layout/>
      <c:barChart>
        <c:barDir val="col"/>
        <c:grouping val="clustered"/>
        <c:varyColors val="0"/>
        <c:ser>
          <c:idx val="0"/>
          <c:order val="0"/>
          <c:tx>
            <c:strRef>
              <c:f>Sheet1!$B$1</c:f>
              <c:strCache>
                <c:ptCount val="1"/>
                <c:pt idx="0">
                  <c:v>Per month</c:v>
                </c:pt>
              </c:strCache>
            </c:strRef>
          </c:tx>
          <c:spPr>
            <a:solidFill>
              <a:srgbClr val="4E9F3D"/>
            </a:solidFill>
            <a:effectLst/>
          </c:spPr>
          <c:invertIfNegative val="0"/>
          <c:dLbls>
            <c:numFmt formatCode="$#,##0" sourceLinked="0"/>
            <c:txPr>
              <a:bodyPr/>
              <a:lstStyle/>
              <a:p>
                <a:pPr>
                  <a:defRPr b="1" i="0" strike="noStrike" sz="1600" u="none">
                    <a:solidFill>
                      <a:srgbClr val="2A1A0E"/>
                    </a:solidFill>
                    <a:latin typeface="+mn-lt"/>
                  </a:defRPr>
                </a:pPr>
              </a:p>
            </c:txPr>
            <c:showLegendKey val="0"/>
            <c:showVal val="1"/>
            <c:showCatName val="0"/>
            <c:showSerName val="0"/>
            <c:showPercent val="0"/>
            <c:showBubbleSize val="0"/>
            <c:showLeaderLines val="0"/>
          </c:dLbls>
          <c:dPt>
            <c:idx val="0"/>
            <c:invertIfNegative val="0"/>
            <c:bubble3D val="0"/>
            <c:spPr>
              <a:solidFill>
                <a:srgbClr val="4E9F3D"/>
              </a:solidFill>
              <a:effectLst/>
            </c:spPr>
          </c:dPt>
          <c:dPt>
            <c:idx val="1"/>
            <c:invertIfNegative val="0"/>
            <c:bubble3D val="0"/>
            <c:spPr>
              <a:solidFill>
                <a:srgbClr val="EA580C"/>
              </a:solidFill>
              <a:effectLst/>
            </c:spPr>
          </c:dPt>
          <c:cat>
            <c:multiLvlStrRef>
              <c:f>Sheet1!$A$2:$A$3</c:f>
              <c:multiLvlStrCache>
                <c:ptCount val="2"/>
                <c:lvl>
                  <c:pt idx="0">
                    <c:v>Food sales recovered</c:v>
                  </c:pt>
                  <c:pt idx="1">
                    <c:v>Bite Wise monthly plan</c:v>
                  </c:pt>
                </c:lvl>
              </c:multiLvlStrCache>
            </c:multiLvlStrRef>
          </c:cat>
          <c:val>
            <c:numRef>
              <c:f>Sheet1!$B$2:$B$3</c:f>
              <c:numCache>
                <c:formatCode>General</c:formatCode>
                <c:ptCount val="2"/>
                <c:pt idx="0">
                  <c:v>1200</c:v>
                </c:pt>
                <c:pt idx="1">
                  <c:v>15</c:v>
                </c:pt>
              </c:numCache>
            </c:numRef>
          </c:val>
        </c:ser>
        <c:dLbls>
          <c:numFmt formatCode="$#,##0" sourceLinked="0"/>
          <c:txPr>
            <a:bodyPr/>
            <a:lstStyle/>
            <a:p>
              <a:pPr>
                <a:defRPr b="1" i="0" strike="noStrike" sz="1600" u="none">
                  <a:solidFill>
                    <a:srgbClr val="2A1A0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463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Bite Wise turns food you already paid to make into money, instead of waste. Mention the Pioneer offer early: the first 50 approved restaurants use it free for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owner how often each of these happens in their kitchen. Most restaurants recognise all three. The point: this food is already paid for; the only question is whether it earns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Bite Wise is a local marketplace. Restaurants post surplus dishes at a discount; customers nearby buy them on their phone and pick them up. It works in the United States and Canada, in US or Canadian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order. Stress that the restaurant is never left holding an unpaid order: the card is held at ordering and charged only when your staff confirm the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dashboard live if you can, or play the short restaurant video from the website. Point out the discard timer: food is only sold while it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Equipment objection: none needed. Any tablet or phone with a browser works. Bookkeeping objection: every payout has an invoice number, and the daily report exports to PDF and CSV for your accountant. Sales tax is set automatically from your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no commission. The restaurant keeps the full discounted price of the food; Bite Wise earns a service fee from the customer and the plan fee. Then close on urgency: Pioneer spots are limited to the first 50 approved restaurants. Be upfront that Bite Wise coupons can come out of the food price, as the agreement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meals x $8 x 30 days = $1,200 a month back from food that would have been thrown away, against a $15 plan, or nothing for a Pioneer Member. Ask the owner to plug in their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the risk objections here: unpaid orders (card hold), wrong person picking up (PIN), time-wasters (no-show suspensions and bans), tax compliance (automatic sales tax), and customer service (Bite Wise handles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offer to sign them up on the spot, on their phone or yours. Remind them Pioneer spots go in order of approval, so signing up today secures a free plan for life while spots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pic>
        <p:nvPicPr>
          <p:cNvPr id="2" name="Image 0" descr="/home/user/RescueBites/public/assets/logo.png">    </p:cNvPr>
          <p:cNvPicPr>
            <a:picLocks noChangeAspect="1"/>
          </p:cNvPicPr>
          <p:nvPr/>
        </p:nvPicPr>
        <p:blipFill>
          <a:blip r:embed="rId1"/>
          <a:stretch>
            <a:fillRect/>
          </a:stretch>
        </p:blipFill>
        <p:spPr>
          <a:xfrm>
            <a:off x="10561320" y="6327648"/>
            <a:ext cx="1143000" cy="320040"/>
          </a:xfrm>
          <a:prstGeom prst="rect">
            <a:avLst/>
          </a:prstGeom>
        </p:spPr>
      </p:pic>
      <p:sp>
        <p:nvSpPr>
          <p:cNvPr id="3" name="Text 0"/>
          <p:cNvSpPr/>
          <p:nvPr>
            <p:ph idx="101" type="title" hasCustomPrompt="1"/>
          </p:nvPr>
        </p:nvSpPr>
        <p:spPr>
          <a:xfrm>
            <a:off x="548640" y="411480"/>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tint">
    <p:bg>
      <p:bgPr>
        <a:solidFill>
          <a:schemeClr val="bg2"/>
        </a:solidFill>
      </p:bgPr>
    </p:bg>
    <p:spTree>
      <p:nvGrpSpPr>
        <p:cNvPr id="1" name=""/>
        <p:cNvGrpSpPr/>
        <p:nvPr/>
      </p:nvGrpSpPr>
      <p:grpSpPr>
        <a:xfrm>
          <a:off x="0" y="0"/>
          <a:ext cx="0" cy="0"/>
          <a:chOff x="0" y="0"/>
          <a:chExt cx="0" cy="0"/>
        </a:xfrm>
      </p:grpSpPr>
      <p:pic>
        <p:nvPicPr>
          <p:cNvPr id="2" name="Image 0" descr="/home/user/RescueBites/public/assets/logo.png">    </p:cNvPr>
          <p:cNvPicPr>
            <a:picLocks noChangeAspect="1"/>
          </p:cNvPicPr>
          <p:nvPr/>
        </p:nvPicPr>
        <p:blipFill>
          <a:blip r:embed="rId1"/>
          <a:stretch>
            <a:fillRect/>
          </a:stretch>
        </p:blipFill>
        <p:spPr>
          <a:xfrm>
            <a:off x="10561320" y="6327648"/>
            <a:ext cx="1143000" cy="320040"/>
          </a:xfrm>
          <a:prstGeom prst="rect">
            <a:avLst/>
          </a:prstGeom>
        </p:spPr>
      </p:pic>
      <p:sp>
        <p:nvSpPr>
          <p:cNvPr id="3" name="Text 0"/>
          <p:cNvSpPr/>
          <p:nvPr>
            <p:ph idx="101" type="title" hasCustomPrompt="1"/>
          </p:nvPr>
        </p:nvSpPr>
        <p:spPr>
          <a:xfrm>
            <a:off x="548640" y="411480"/>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www.bite-wise.org" TargetMode="External"/><Relationship Id="rId4" Type="http://schemas.openxmlformats.org/officeDocument/2006/relationships/hyperlink" Target="mailto:support@bite-wise.org" TargetMode="External"/><Relationship Id="rId1" Type="http://schemas.openxmlformats.org/officeDocument/2006/relationships/image" Target="../media/image-10-1.png"/><Relationship Id="rId2" Type="http://schemas.openxmlformats.org/officeDocument/2006/relationships/image" Target="../media/image-10-2.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r>
          <p:cNvPicPr>
            <a:picLocks noChangeAspect="1"/>
          </p:cNvPicPr>
          <p:nvPr/>
        </p:nvPicPr>
        <p:blipFill>
          <a:blip r:embed="rId1"/>
          <a:stretch>
            <a:fillRect/>
          </a:stretch>
        </p:blipFill>
        <p:spPr>
          <a:xfrm>
            <a:off x="640080" y="548640"/>
            <a:ext cx="2377440" cy="667512"/>
          </a:xfrm>
          <a:prstGeom prst="rect">
            <a:avLst/>
          </a:prstGeom>
        </p:spPr>
      </p:pic>
      <p:sp>
        <p:nvSpPr>
          <p:cNvPr id="3" name="Headline"/>
          <p:cNvSpPr txBox="1"/>
          <p:nvPr/>
        </p:nvSpPr>
        <p:spPr>
          <a:xfrm>
            <a:off x="640080" y="1828800"/>
            <a:ext cx="6035040" cy="1828800"/>
          </a:xfrm>
          <a:prstGeom prst="rect">
            <a:avLst/>
          </a:prstGeom>
          <a:noFill/>
          <a:ln/>
        </p:spPr>
        <p:txBody>
          <a:bodyPr wrap="square" lIns="0" tIns="0" rIns="0" bIns="0" rtlCol="0" anchor="t"/>
          <a:lstStyle/>
          <a:p>
            <a:pPr indent="0" marL="0">
              <a:buNone/>
            </a:pPr>
            <a:r>
              <a:rPr lang="en-US" sz="4800" b="1" dirty="0">
                <a:solidFill>
                  <a:schemeClr val="bg1"/>
                </a:solidFill>
              </a:rPr>
              <a:t>Turn your surplus food into revenue</a:t>
            </a:r>
            <a:endParaRPr lang="en-US" sz="4800" dirty="0"/>
          </a:p>
        </p:txBody>
      </p:sp>
      <p:sp>
        <p:nvSpPr>
          <p:cNvPr id="4" name="Tagline"/>
          <p:cNvSpPr txBox="1"/>
          <p:nvPr/>
        </p:nvSpPr>
        <p:spPr>
          <a:xfrm>
            <a:off x="640080" y="3794760"/>
            <a:ext cx="5669280" cy="1005840"/>
          </a:xfrm>
          <a:prstGeom prst="rect">
            <a:avLst/>
          </a:prstGeom>
          <a:noFill/>
          <a:ln/>
        </p:spPr>
        <p:txBody>
          <a:bodyPr wrap="square" lIns="0" tIns="0" rIns="0" bIns="0" rtlCol="0" anchor="t"/>
          <a:lstStyle/>
          <a:p>
            <a:pPr indent="0" marL="0">
              <a:buNone/>
            </a:pPr>
            <a:r>
              <a:rPr lang="en-US" sz="1800" dirty="0">
                <a:solidFill>
                  <a:schemeClr val="bg2"/>
                </a:solidFill>
              </a:rPr>
              <a:t>Sell wrong orders, no-shows and end-of-day extras to customers nearby, instead of throwing them away. No commission on your food sales.</a:t>
            </a:r>
            <a:endParaRPr lang="en-US" sz="1800" dirty="0"/>
          </a:p>
        </p:txBody>
      </p:sp>
      <p:sp>
        <p:nvSpPr>
          <p:cNvPr id="5" name="Offer pill"/>
          <p:cNvSpPr/>
          <p:nvPr/>
        </p:nvSpPr>
        <p:spPr>
          <a:xfrm>
            <a:off x="640080" y="5120640"/>
            <a:ext cx="4846320" cy="685800"/>
          </a:xfrm>
          <a:prstGeom prst="roundRect">
            <a:avLst>
              <a:gd name="adj" fmla="val 49333"/>
            </a:avLst>
          </a:prstGeom>
          <a:solidFill>
            <a:schemeClr val="accent2"/>
          </a:solidFill>
          <a:ln/>
        </p:spPr>
      </p:sp>
      <p:sp>
        <p:nvSpPr>
          <p:cNvPr id="6" name="Offer text"/>
          <p:cNvSpPr txBox="1"/>
          <p:nvPr/>
        </p:nvSpPr>
        <p:spPr>
          <a:xfrm>
            <a:off x="640080" y="5120640"/>
            <a:ext cx="4846320" cy="685800"/>
          </a:xfrm>
          <a:prstGeom prst="rect">
            <a:avLst/>
          </a:prstGeom>
          <a:noFill/>
          <a:ln/>
        </p:spPr>
        <p:txBody>
          <a:bodyPr wrap="square" lIns="0" tIns="0" rIns="0" bIns="0" rtlCol="0" anchor="ctr"/>
          <a:lstStyle/>
          <a:p>
            <a:pPr algn="ctr" indent="0" marL="0">
              <a:buNone/>
            </a:pPr>
            <a:r>
              <a:rPr lang="en-US" sz="1800" dirty="0">
                <a:solidFill>
                  <a:schemeClr val="bg1"/>
                </a:solidFill>
              </a:rPr>
              <a:t>🌱 </a:t>
            </a:r>
            <a:pPr algn="ctr" indent="0" marL="0">
              <a:buNone/>
            </a:pPr>
            <a:r>
              <a:rPr lang="en-US" sz="1800" b="1" dirty="0">
                <a:solidFill>
                  <a:schemeClr val="bg1"/>
                </a:solidFill>
              </a:rPr>
              <a:t>First 50 restaurants: free for life</a:t>
            </a:r>
            <a:endParaRPr lang="en-US" sz="1800" dirty="0"/>
          </a:p>
        </p:txBody>
      </p:sp>
      <p:sp>
        <p:nvSpPr>
          <p:cNvPr id="7" name="Dashboard screenshot frame"/>
          <p:cNvSpPr/>
          <p:nvPr/>
        </p:nvSpPr>
        <p:spPr>
          <a:xfrm>
            <a:off x="6848856" y="1682496"/>
            <a:ext cx="4864608" cy="2784348"/>
          </a:xfrm>
          <a:prstGeom prst="roundRect">
            <a:avLst>
              <a:gd name="adj" fmla="val 3941"/>
            </a:avLst>
          </a:prstGeom>
          <a:solidFill>
            <a:schemeClr val="tx1"/>
          </a:solidFill>
          <a:ln/>
          <a:effectLst>
            <a:outerShdw sx="100000" sy="100000" kx="0" ky="0" algn="bl" rotWithShape="0" blurRad="127000" dist="38100" dir="5400000">
              <a:srgbClr val="000000">
                <a:alpha val="18000"/>
              </a:srgbClr>
            </a:outerShdw>
          </a:effectLst>
        </p:spPr>
      </p:sp>
      <p:pic>
        <p:nvPicPr>
          <p:cNvPr id="8" name="Dashboard screenshot" descr="/tmp/claude-0/-home-user-RescueBites/e2cfd2a4-15d3-55a4-8cb5-5a18f8cff6b8/scratchpad/deck/frames/r13.jpg">    </p:cNvPr>
          <p:cNvPicPr>
            <a:picLocks noChangeAspect="1"/>
          </p:cNvPicPr>
          <p:nvPr/>
        </p:nvPicPr>
        <p:blipFill>
          <a:blip r:embed="rId2"/>
          <a:stretch>
            <a:fillRect/>
          </a:stretch>
        </p:blipFill>
        <p:spPr>
          <a:xfrm>
            <a:off x="6903720" y="1737360"/>
            <a:ext cx="4754880" cy="2674620"/>
          </a:xfrm>
          <a:prstGeom prst="rect">
            <a:avLst/>
          </a:prstGeom>
        </p:spPr>
      </p:pic>
      <p:sp>
        <p:nvSpPr>
          <p:cNvPr id="9" name="Screenshot caption"/>
          <p:cNvSpPr txBox="1"/>
          <p:nvPr/>
        </p:nvSpPr>
        <p:spPr>
          <a:xfrm>
            <a:off x="6903720" y="4526280"/>
            <a:ext cx="4754880" cy="320040"/>
          </a:xfrm>
          <a:prstGeom prst="rect">
            <a:avLst/>
          </a:prstGeom>
          <a:noFill/>
          <a:ln/>
        </p:spPr>
        <p:txBody>
          <a:bodyPr wrap="square" lIns="0" tIns="0" rIns="0" bIns="0" rtlCol="0" anchor="ctr"/>
          <a:lstStyle/>
          <a:p>
            <a:pPr indent="0" marL="0">
              <a:buNone/>
            </a:pPr>
            <a:r>
              <a:rPr lang="en-US" sz="1200" i="1" dirty="0">
                <a:solidFill>
                  <a:schemeClr val="bg2"/>
                </a:solidFill>
              </a:rPr>
              <a:t>Your restaurant dashboard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Every kitchen ends the day with good food it can't sell</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800" dirty="0">
                <a:solidFill>
                  <a:schemeClr val="tx2"/>
                </a:solidFill>
              </a:rPr>
              <a:t>You already paid for the ingredients and the labour. Throwing it out turns that cost into a total loss.</a:t>
            </a:r>
            <a:endParaRPr lang="en-US" sz="1800" dirty="0"/>
          </a:p>
        </p:txBody>
      </p:sp>
      <p:sp>
        <p:nvSpPr>
          <p:cNvPr id="4" name="Pain 1 card"/>
          <p:cNvSpPr/>
          <p:nvPr/>
        </p:nvSpPr>
        <p:spPr>
          <a:xfrm>
            <a:off x="548640" y="2011680"/>
            <a:ext cx="3474720" cy="3566160"/>
          </a:xfrm>
          <a:prstGeom prst="roundRect">
            <a:avLst>
              <a:gd name="adj" fmla="val 3947"/>
            </a:avLst>
          </a:prstGeom>
          <a:solidFill>
            <a:schemeClr val="bg2"/>
          </a:solidFill>
          <a:ln/>
        </p:spPr>
      </p:sp>
      <p:sp>
        <p:nvSpPr>
          <p:cNvPr id="5" name="Pain 1 circle"/>
          <p:cNvSpPr/>
          <p:nvPr/>
        </p:nvSpPr>
        <p:spPr>
          <a:xfrm>
            <a:off x="914400" y="2331720"/>
            <a:ext cx="914400" cy="914400"/>
          </a:xfrm>
          <a:prstGeom prst="ellipse">
            <a:avLst/>
          </a:prstGeom>
          <a:solidFill>
            <a:schemeClr val="accent1"/>
          </a:solidFill>
          <a:ln/>
        </p:spPr>
      </p:sp>
      <p:pic>
        <p:nvPicPr>
          <p:cNvPr id="6" name="Pain 1 icon" descr="preencoded.png">    </p:cNvPr>
          <p:cNvPicPr>
            <a:picLocks noChangeAspect="1"/>
          </p:cNvPicPr>
          <p:nvPr/>
        </p:nvPicPr>
        <p:blipFill>
          <a:blip r:embed="rId1"/>
          <a:stretch>
            <a:fillRect/>
          </a:stretch>
        </p:blipFill>
        <p:spPr>
          <a:xfrm>
            <a:off x="1143000" y="2560320"/>
            <a:ext cx="457200" cy="457200"/>
          </a:xfrm>
          <a:prstGeom prst="rect">
            <a:avLst/>
          </a:prstGeom>
        </p:spPr>
      </p:pic>
      <p:sp>
        <p:nvSpPr>
          <p:cNvPr id="7" name="Pain 1 title"/>
          <p:cNvSpPr txBox="1"/>
          <p:nvPr/>
        </p:nvSpPr>
        <p:spPr>
          <a:xfrm>
            <a:off x="914400" y="347472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Wrong orders</a:t>
            </a:r>
            <a:endParaRPr lang="en-US" sz="2200" dirty="0"/>
          </a:p>
        </p:txBody>
      </p:sp>
      <p:sp>
        <p:nvSpPr>
          <p:cNvPr id="8" name="Pain 1 text"/>
          <p:cNvSpPr txBox="1"/>
          <p:nvPr/>
        </p:nvSpPr>
        <p:spPr>
          <a:xfrm>
            <a:off x="914400" y="3977640"/>
            <a:ext cx="2743200" cy="1371600"/>
          </a:xfrm>
          <a:prstGeom prst="rect">
            <a:avLst/>
          </a:prstGeom>
          <a:noFill/>
          <a:ln/>
        </p:spPr>
        <p:txBody>
          <a:bodyPr wrap="square" lIns="0" tIns="0" rIns="0" bIns="0" rtlCol="0" anchor="t"/>
          <a:lstStyle/>
          <a:p>
            <a:pPr indent="0" marL="0">
              <a:buNone/>
            </a:pPr>
            <a:r>
              <a:rPr lang="en-US" sz="1600" dirty="0">
                <a:solidFill>
                  <a:schemeClr val="tx2"/>
                </a:solidFill>
              </a:rPr>
              <a:t>A dish made with the wrong ingredient, or the wrong size, that the customer sent back.</a:t>
            </a:r>
            <a:endParaRPr lang="en-US" sz="1600" dirty="0"/>
          </a:p>
        </p:txBody>
      </p:sp>
      <p:sp>
        <p:nvSpPr>
          <p:cNvPr id="9" name="Pain 2 card"/>
          <p:cNvSpPr/>
          <p:nvPr/>
        </p:nvSpPr>
        <p:spPr>
          <a:xfrm>
            <a:off x="4297680" y="2011680"/>
            <a:ext cx="3474720" cy="3566160"/>
          </a:xfrm>
          <a:prstGeom prst="roundRect">
            <a:avLst>
              <a:gd name="adj" fmla="val 3947"/>
            </a:avLst>
          </a:prstGeom>
          <a:solidFill>
            <a:schemeClr val="bg2"/>
          </a:solidFill>
          <a:ln/>
        </p:spPr>
      </p:sp>
      <p:sp>
        <p:nvSpPr>
          <p:cNvPr id="10" name="Pain 2 circle"/>
          <p:cNvSpPr/>
          <p:nvPr/>
        </p:nvSpPr>
        <p:spPr>
          <a:xfrm>
            <a:off x="4663440" y="2331720"/>
            <a:ext cx="914400" cy="914400"/>
          </a:xfrm>
          <a:prstGeom prst="ellipse">
            <a:avLst/>
          </a:prstGeom>
          <a:solidFill>
            <a:schemeClr val="accent1"/>
          </a:solidFill>
          <a:ln/>
        </p:spPr>
      </p:sp>
      <p:pic>
        <p:nvPicPr>
          <p:cNvPr id="11" name="Pain 2 icon" descr="preencoded.png">    </p:cNvPr>
          <p:cNvPicPr>
            <a:picLocks noChangeAspect="1"/>
          </p:cNvPicPr>
          <p:nvPr/>
        </p:nvPicPr>
        <p:blipFill>
          <a:blip r:embed="rId2"/>
          <a:stretch>
            <a:fillRect/>
          </a:stretch>
        </p:blipFill>
        <p:spPr>
          <a:xfrm>
            <a:off x="4892040" y="2560320"/>
            <a:ext cx="457200" cy="457200"/>
          </a:xfrm>
          <a:prstGeom prst="rect">
            <a:avLst/>
          </a:prstGeom>
        </p:spPr>
      </p:pic>
      <p:sp>
        <p:nvSpPr>
          <p:cNvPr id="12" name="Pain 2 title"/>
          <p:cNvSpPr txBox="1"/>
          <p:nvPr/>
        </p:nvSpPr>
        <p:spPr>
          <a:xfrm>
            <a:off x="4663440" y="347472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No-shows and cancels</a:t>
            </a:r>
            <a:endParaRPr lang="en-US" sz="2200" dirty="0"/>
          </a:p>
        </p:txBody>
      </p:sp>
      <p:sp>
        <p:nvSpPr>
          <p:cNvPr id="13" name="Pain 2 text"/>
          <p:cNvSpPr txBox="1"/>
          <p:nvPr/>
        </p:nvSpPr>
        <p:spPr>
          <a:xfrm>
            <a:off x="4663440" y="3977640"/>
            <a:ext cx="2743200" cy="1371600"/>
          </a:xfrm>
          <a:prstGeom prst="rect">
            <a:avLst/>
          </a:prstGeom>
          <a:noFill/>
          <a:ln/>
        </p:spPr>
        <p:txBody>
          <a:bodyPr wrap="square" lIns="0" tIns="0" rIns="0" bIns="0" rtlCol="0" anchor="t"/>
          <a:lstStyle/>
          <a:p>
            <a:pPr indent="0" marL="0">
              <a:buNone/>
            </a:pPr>
            <a:r>
              <a:rPr lang="en-US" sz="1600" dirty="0">
                <a:solidFill>
                  <a:schemeClr val="tx2"/>
                </a:solidFill>
              </a:rPr>
              <a:t>Delivery drivers who cancel, and pickup orders nobody comes for.</a:t>
            </a:r>
            <a:endParaRPr lang="en-US" sz="1600" dirty="0"/>
          </a:p>
        </p:txBody>
      </p:sp>
      <p:sp>
        <p:nvSpPr>
          <p:cNvPr id="14" name="Pain 3 card"/>
          <p:cNvSpPr/>
          <p:nvPr/>
        </p:nvSpPr>
        <p:spPr>
          <a:xfrm>
            <a:off x="8046720" y="2011680"/>
            <a:ext cx="3474720" cy="3566160"/>
          </a:xfrm>
          <a:prstGeom prst="roundRect">
            <a:avLst>
              <a:gd name="adj" fmla="val 3947"/>
            </a:avLst>
          </a:prstGeom>
          <a:solidFill>
            <a:schemeClr val="bg2"/>
          </a:solidFill>
          <a:ln/>
        </p:spPr>
      </p:sp>
      <p:sp>
        <p:nvSpPr>
          <p:cNvPr id="15" name="Pain 3 circle"/>
          <p:cNvSpPr/>
          <p:nvPr/>
        </p:nvSpPr>
        <p:spPr>
          <a:xfrm>
            <a:off x="8412480" y="2331720"/>
            <a:ext cx="914400" cy="914400"/>
          </a:xfrm>
          <a:prstGeom prst="ellipse">
            <a:avLst/>
          </a:prstGeom>
          <a:solidFill>
            <a:schemeClr val="accent1"/>
          </a:solidFill>
          <a:ln/>
        </p:spPr>
      </p:sp>
      <p:pic>
        <p:nvPicPr>
          <p:cNvPr id="16" name="Pain 3 icon" descr="preencoded.png">    </p:cNvPr>
          <p:cNvPicPr>
            <a:picLocks noChangeAspect="1"/>
          </p:cNvPicPr>
          <p:nvPr/>
        </p:nvPicPr>
        <p:blipFill>
          <a:blip r:embed="rId3"/>
          <a:stretch>
            <a:fillRect/>
          </a:stretch>
        </p:blipFill>
        <p:spPr>
          <a:xfrm>
            <a:off x="8641080" y="2560320"/>
            <a:ext cx="457200" cy="457200"/>
          </a:xfrm>
          <a:prstGeom prst="rect">
            <a:avLst/>
          </a:prstGeom>
        </p:spPr>
      </p:pic>
      <p:sp>
        <p:nvSpPr>
          <p:cNvPr id="17" name="Pain 3 title"/>
          <p:cNvSpPr txBox="1"/>
          <p:nvPr/>
        </p:nvSpPr>
        <p:spPr>
          <a:xfrm>
            <a:off x="8412480" y="347472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Closing-time extras</a:t>
            </a:r>
            <a:endParaRPr lang="en-US" sz="2200" dirty="0"/>
          </a:p>
        </p:txBody>
      </p:sp>
      <p:sp>
        <p:nvSpPr>
          <p:cNvPr id="18" name="Pain 3 text"/>
          <p:cNvSpPr txBox="1"/>
          <p:nvPr/>
        </p:nvSpPr>
        <p:spPr>
          <a:xfrm>
            <a:off x="8412480" y="3977640"/>
            <a:ext cx="2743200" cy="1371600"/>
          </a:xfrm>
          <a:prstGeom prst="rect">
            <a:avLst/>
          </a:prstGeom>
          <a:noFill/>
          <a:ln/>
        </p:spPr>
        <p:txBody>
          <a:bodyPr wrap="square" lIns="0" tIns="0" rIns="0" bIns="0" rtlCol="0" anchor="t"/>
          <a:lstStyle/>
          <a:p>
            <a:pPr indent="0" marL="0">
              <a:buNone/>
            </a:pPr>
            <a:r>
              <a:rPr lang="en-US" sz="1600" dirty="0">
                <a:solidFill>
                  <a:schemeClr val="tx2"/>
                </a:solidFill>
              </a:rPr>
              <a:t>The last trays and portions you made too much of, when demand was lower than expected.</a:t>
            </a:r>
            <a:endParaRPr lang="en-US" sz="1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Bite Wise sells it to people nearby, within the hour</a:t>
            </a:r>
            <a:endParaRPr lang="en-US" sz="3600" dirty="0"/>
          </a:p>
        </p:txBody>
      </p:sp>
      <p:sp>
        <p:nvSpPr>
          <p:cNvPr id="3" name="Benefit 1 circle"/>
          <p:cNvSpPr/>
          <p:nvPr/>
        </p:nvSpPr>
        <p:spPr>
          <a:xfrm>
            <a:off x="548640" y="1600200"/>
            <a:ext cx="868680" cy="868680"/>
          </a:xfrm>
          <a:prstGeom prst="ellipse">
            <a:avLst/>
          </a:prstGeom>
          <a:solidFill>
            <a:schemeClr val="accent2"/>
          </a:solidFill>
          <a:ln/>
        </p:spPr>
      </p:sp>
      <p:pic>
        <p:nvPicPr>
          <p:cNvPr id="4" name="Benefit 1 icon" descr="preencoded.png">    </p:cNvPr>
          <p:cNvPicPr>
            <a:picLocks noChangeAspect="1"/>
          </p:cNvPicPr>
          <p:nvPr/>
        </p:nvPicPr>
        <p:blipFill>
          <a:blip r:embed="rId1"/>
          <a:stretch>
            <a:fillRect/>
          </a:stretch>
        </p:blipFill>
        <p:spPr>
          <a:xfrm>
            <a:off x="765810" y="1817370"/>
            <a:ext cx="434340" cy="434340"/>
          </a:xfrm>
          <a:prstGeom prst="rect">
            <a:avLst/>
          </a:prstGeom>
        </p:spPr>
      </p:pic>
      <p:sp>
        <p:nvSpPr>
          <p:cNvPr id="5" name="Benefit 1 title"/>
          <p:cNvSpPr txBox="1"/>
          <p:nvPr/>
        </p:nvSpPr>
        <p:spPr>
          <a:xfrm>
            <a:off x="1645920" y="1581912"/>
            <a:ext cx="4023360" cy="411480"/>
          </a:xfrm>
          <a:prstGeom prst="rect">
            <a:avLst/>
          </a:prstGeom>
          <a:noFill/>
          <a:ln/>
        </p:spPr>
        <p:txBody>
          <a:bodyPr wrap="square" lIns="0" tIns="0" rIns="0" bIns="0" rtlCol="0" anchor="ctr"/>
          <a:lstStyle/>
          <a:p>
            <a:pPr indent="0" marL="0">
              <a:buNone/>
            </a:pPr>
            <a:r>
              <a:rPr lang="en-US" sz="2200" b="1" dirty="0">
                <a:solidFill>
                  <a:schemeClr val="tx1"/>
                </a:solidFill>
              </a:rPr>
              <a:t>Recover revenue</a:t>
            </a:r>
            <a:endParaRPr lang="en-US" sz="2200" dirty="0"/>
          </a:p>
        </p:txBody>
      </p:sp>
      <p:sp>
        <p:nvSpPr>
          <p:cNvPr id="6" name="Benefit 1 text"/>
          <p:cNvSpPr txBox="1"/>
          <p:nvPr/>
        </p:nvSpPr>
        <p:spPr>
          <a:xfrm>
            <a:off x="1645920" y="2011680"/>
            <a:ext cx="4023360" cy="685800"/>
          </a:xfrm>
          <a:prstGeom prst="rect">
            <a:avLst/>
          </a:prstGeom>
          <a:noFill/>
          <a:ln/>
        </p:spPr>
        <p:txBody>
          <a:bodyPr wrap="square" lIns="0" tIns="0" rIns="0" bIns="0" rtlCol="0" anchor="t"/>
          <a:lstStyle/>
          <a:p>
            <a:pPr indent="0" marL="0">
              <a:buNone/>
            </a:pPr>
            <a:r>
              <a:rPr lang="en-US" sz="1600" dirty="0">
                <a:solidFill>
                  <a:schemeClr val="tx2"/>
                </a:solidFill>
              </a:rPr>
              <a:t>Earn from food that would otherwise go in the bin.</a:t>
            </a:r>
            <a:endParaRPr lang="en-US" sz="1600" dirty="0"/>
          </a:p>
        </p:txBody>
      </p:sp>
      <p:sp>
        <p:nvSpPr>
          <p:cNvPr id="7" name="Benefit 2 circle"/>
          <p:cNvSpPr/>
          <p:nvPr/>
        </p:nvSpPr>
        <p:spPr>
          <a:xfrm>
            <a:off x="548640" y="3063240"/>
            <a:ext cx="868680" cy="868680"/>
          </a:xfrm>
          <a:prstGeom prst="ellipse">
            <a:avLst/>
          </a:prstGeom>
          <a:solidFill>
            <a:schemeClr val="accent2"/>
          </a:solidFill>
          <a:ln/>
        </p:spPr>
      </p:sp>
      <p:pic>
        <p:nvPicPr>
          <p:cNvPr id="8" name="Benefit 2 icon" descr="preencoded.png">    </p:cNvPr>
          <p:cNvPicPr>
            <a:picLocks noChangeAspect="1"/>
          </p:cNvPicPr>
          <p:nvPr/>
        </p:nvPicPr>
        <p:blipFill>
          <a:blip r:embed="rId2"/>
          <a:stretch>
            <a:fillRect/>
          </a:stretch>
        </p:blipFill>
        <p:spPr>
          <a:xfrm>
            <a:off x="765810" y="3280410"/>
            <a:ext cx="434340" cy="434340"/>
          </a:xfrm>
          <a:prstGeom prst="rect">
            <a:avLst/>
          </a:prstGeom>
        </p:spPr>
      </p:pic>
      <p:sp>
        <p:nvSpPr>
          <p:cNvPr id="9" name="Benefit 2 title"/>
          <p:cNvSpPr txBox="1"/>
          <p:nvPr/>
        </p:nvSpPr>
        <p:spPr>
          <a:xfrm>
            <a:off x="1645920" y="3044952"/>
            <a:ext cx="4023360" cy="411480"/>
          </a:xfrm>
          <a:prstGeom prst="rect">
            <a:avLst/>
          </a:prstGeom>
          <a:noFill/>
          <a:ln/>
        </p:spPr>
        <p:txBody>
          <a:bodyPr wrap="square" lIns="0" tIns="0" rIns="0" bIns="0" rtlCol="0" anchor="ctr"/>
          <a:lstStyle/>
          <a:p>
            <a:pPr indent="0" marL="0">
              <a:buNone/>
            </a:pPr>
            <a:r>
              <a:rPr lang="en-US" sz="2200" b="1" dirty="0">
                <a:solidFill>
                  <a:schemeClr val="tx1"/>
                </a:solidFill>
              </a:rPr>
              <a:t>Win new regulars</a:t>
            </a:r>
            <a:endParaRPr lang="en-US" sz="2200" dirty="0"/>
          </a:p>
        </p:txBody>
      </p:sp>
      <p:sp>
        <p:nvSpPr>
          <p:cNvPr id="10" name="Benefit 2 text"/>
          <p:cNvSpPr txBox="1"/>
          <p:nvPr/>
        </p:nvSpPr>
        <p:spPr>
          <a:xfrm>
            <a:off x="1645920" y="3474720"/>
            <a:ext cx="4023360" cy="685800"/>
          </a:xfrm>
          <a:prstGeom prst="rect">
            <a:avLst/>
          </a:prstGeom>
          <a:noFill/>
          <a:ln/>
        </p:spPr>
        <p:txBody>
          <a:bodyPr wrap="square" lIns="0" tIns="0" rIns="0" bIns="0" rtlCol="0" anchor="t"/>
          <a:lstStyle/>
          <a:p>
            <a:pPr indent="0" marL="0">
              <a:buNone/>
            </a:pPr>
            <a:r>
              <a:rPr lang="en-US" sz="1600" dirty="0">
                <a:solidFill>
                  <a:schemeClr val="tx2"/>
                </a:solidFill>
              </a:rPr>
              <a:t>Customers discover you through a deal, then come back at full price.</a:t>
            </a:r>
            <a:endParaRPr lang="en-US" sz="1600" dirty="0"/>
          </a:p>
        </p:txBody>
      </p:sp>
      <p:sp>
        <p:nvSpPr>
          <p:cNvPr id="11" name="Benefit 3 circle"/>
          <p:cNvSpPr/>
          <p:nvPr/>
        </p:nvSpPr>
        <p:spPr>
          <a:xfrm>
            <a:off x="548640" y="4526280"/>
            <a:ext cx="868680" cy="868680"/>
          </a:xfrm>
          <a:prstGeom prst="ellipse">
            <a:avLst/>
          </a:prstGeom>
          <a:solidFill>
            <a:schemeClr val="accent2"/>
          </a:solidFill>
          <a:ln/>
        </p:spPr>
      </p:sp>
      <p:pic>
        <p:nvPicPr>
          <p:cNvPr id="12" name="Benefit 3 icon" descr="preencoded.png">    </p:cNvPr>
          <p:cNvPicPr>
            <a:picLocks noChangeAspect="1"/>
          </p:cNvPicPr>
          <p:nvPr/>
        </p:nvPicPr>
        <p:blipFill>
          <a:blip r:embed="rId3"/>
          <a:stretch>
            <a:fillRect/>
          </a:stretch>
        </p:blipFill>
        <p:spPr>
          <a:xfrm>
            <a:off x="765810" y="4743450"/>
            <a:ext cx="434340" cy="434340"/>
          </a:xfrm>
          <a:prstGeom prst="rect">
            <a:avLst/>
          </a:prstGeom>
        </p:spPr>
      </p:pic>
      <p:sp>
        <p:nvSpPr>
          <p:cNvPr id="13" name="Benefit 3 title"/>
          <p:cNvSpPr txBox="1"/>
          <p:nvPr/>
        </p:nvSpPr>
        <p:spPr>
          <a:xfrm>
            <a:off x="1645920" y="4507992"/>
            <a:ext cx="4023360" cy="411480"/>
          </a:xfrm>
          <a:prstGeom prst="rect">
            <a:avLst/>
          </a:prstGeom>
          <a:noFill/>
          <a:ln/>
        </p:spPr>
        <p:txBody>
          <a:bodyPr wrap="square" lIns="0" tIns="0" rIns="0" bIns="0" rtlCol="0" anchor="ctr"/>
          <a:lstStyle/>
          <a:p>
            <a:pPr indent="0" marL="0">
              <a:buNone/>
            </a:pPr>
            <a:r>
              <a:rPr lang="en-US" sz="2200" b="1" dirty="0">
                <a:solidFill>
                  <a:schemeClr val="tx1"/>
                </a:solidFill>
              </a:rPr>
              <a:t>Waste less</a:t>
            </a:r>
            <a:endParaRPr lang="en-US" sz="2200" dirty="0"/>
          </a:p>
        </p:txBody>
      </p:sp>
      <p:sp>
        <p:nvSpPr>
          <p:cNvPr id="14" name="Benefit 3 text"/>
          <p:cNvSpPr txBox="1"/>
          <p:nvPr/>
        </p:nvSpPr>
        <p:spPr>
          <a:xfrm>
            <a:off x="1645920" y="4937760"/>
            <a:ext cx="4023360" cy="685800"/>
          </a:xfrm>
          <a:prstGeom prst="rect">
            <a:avLst/>
          </a:prstGeom>
          <a:noFill/>
          <a:ln/>
        </p:spPr>
        <p:txBody>
          <a:bodyPr wrap="square" lIns="0" tIns="0" rIns="0" bIns="0" rtlCol="0" anchor="t"/>
          <a:lstStyle/>
          <a:p>
            <a:pPr indent="0" marL="0">
              <a:buNone/>
            </a:pPr>
            <a:r>
              <a:rPr lang="en-US" sz="1600" dirty="0">
                <a:solidFill>
                  <a:schemeClr val="tx2"/>
                </a:solidFill>
              </a:rPr>
              <a:t>Every meal sold is one less in the landfill, and a story your customers like.</a:t>
            </a:r>
            <a:endParaRPr lang="en-US" sz="1600" dirty="0"/>
          </a:p>
        </p:txBody>
      </p:sp>
      <p:sp>
        <p:nvSpPr>
          <p:cNvPr id="15" name="Customer deals screenshot frame"/>
          <p:cNvSpPr/>
          <p:nvPr/>
        </p:nvSpPr>
        <p:spPr>
          <a:xfrm>
            <a:off x="6117336" y="1545336"/>
            <a:ext cx="5596128" cy="3195828"/>
          </a:xfrm>
          <a:prstGeom prst="roundRect">
            <a:avLst>
              <a:gd name="adj" fmla="val 3433"/>
            </a:avLst>
          </a:prstGeom>
          <a:solidFill>
            <a:schemeClr val="tx1"/>
          </a:solidFill>
          <a:ln/>
          <a:effectLst>
            <a:outerShdw sx="100000" sy="100000" kx="0" ky="0" algn="bl" rotWithShape="0" blurRad="127000" dist="38100" dir="5400000">
              <a:srgbClr val="000000">
                <a:alpha val="18000"/>
              </a:srgbClr>
            </a:outerShdw>
          </a:effectLst>
        </p:spPr>
      </p:sp>
      <p:pic>
        <p:nvPicPr>
          <p:cNvPr id="16" name="Customer deals screenshot" descr="/tmp/claude-0/-home-user-RescueBites/e2cfd2a4-15d3-55a4-8cb5-5a18f8cff6b8/scratchpad/deck/frames/c20.jpg">    </p:cNvPr>
          <p:cNvPicPr>
            <a:picLocks noChangeAspect="1"/>
          </p:cNvPicPr>
          <p:nvPr/>
        </p:nvPicPr>
        <p:blipFill>
          <a:blip r:embed="rId4"/>
          <a:stretch>
            <a:fillRect/>
          </a:stretch>
        </p:blipFill>
        <p:spPr>
          <a:xfrm>
            <a:off x="6172200" y="1600200"/>
            <a:ext cx="5486400" cy="3086100"/>
          </a:xfrm>
          <a:prstGeom prst="rect">
            <a:avLst/>
          </a:prstGeom>
        </p:spPr>
      </p:pic>
      <p:sp>
        <p:nvSpPr>
          <p:cNvPr id="17" name="Screenshot caption"/>
          <p:cNvSpPr txBox="1"/>
          <p:nvPr/>
        </p:nvSpPr>
        <p:spPr>
          <a:xfrm>
            <a:off x="6172200" y="4846320"/>
            <a:ext cx="5486400" cy="548640"/>
          </a:xfrm>
          <a:prstGeom prst="rect">
            <a:avLst/>
          </a:prstGeom>
          <a:noFill/>
          <a:ln/>
        </p:spPr>
        <p:txBody>
          <a:bodyPr wrap="square" lIns="0" tIns="0" rIns="0" bIns="0" rtlCol="0" anchor="ctr"/>
          <a:lstStyle/>
          <a:p>
            <a:pPr indent="0" marL="0">
              <a:buNone/>
            </a:pPr>
            <a:r>
              <a:rPr lang="en-US" sz="1200" i="1" dirty="0">
                <a:solidFill>
                  <a:schemeClr val="tx2"/>
                </a:solidFill>
              </a:rPr>
              <a:t>What customers see: live deals near them, with distance and a pickup countdown</a:t>
            </a:r>
            <a:endParaRPr lang="en-US" sz="12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Four steps from extra food to money in the bank</a:t>
            </a:r>
            <a:endParaRPr lang="en-US" sz="3600" dirty="0"/>
          </a:p>
        </p:txBody>
      </p:sp>
      <p:sp>
        <p:nvSpPr>
          <p:cNvPr id="3" name="Step 1 connector"/>
          <p:cNvSpPr/>
          <p:nvPr/>
        </p:nvSpPr>
        <p:spPr>
          <a:xfrm>
            <a:off x="1874520" y="2377440"/>
            <a:ext cx="2514600" cy="0"/>
          </a:xfrm>
          <a:prstGeom prst="line">
            <a:avLst/>
          </a:prstGeom>
          <a:noFill/>
          <a:ln w="38100">
            <a:solidFill>
              <a:schemeClr val="accent3"/>
            </a:solidFill>
            <a:prstDash val="dash"/>
          </a:ln>
        </p:spPr>
      </p:sp>
      <p:sp>
        <p:nvSpPr>
          <p:cNvPr id="4" name="Step 1 circle"/>
          <p:cNvSpPr/>
          <p:nvPr/>
        </p:nvSpPr>
        <p:spPr>
          <a:xfrm>
            <a:off x="868680" y="1828800"/>
            <a:ext cx="1097280" cy="1097280"/>
          </a:xfrm>
          <a:prstGeom prst="ellipse">
            <a:avLst/>
          </a:prstGeom>
          <a:solidFill>
            <a:schemeClr val="accent1"/>
          </a:solidFill>
          <a:ln/>
        </p:spPr>
      </p:sp>
      <p:pic>
        <p:nvPicPr>
          <p:cNvPr id="5" name="Step 1 icon" descr="preencoded.png">    </p:cNvPr>
          <p:cNvPicPr>
            <a:picLocks noChangeAspect="1"/>
          </p:cNvPicPr>
          <p:nvPr/>
        </p:nvPicPr>
        <p:blipFill>
          <a:blip r:embed="rId1"/>
          <a:stretch>
            <a:fillRect/>
          </a:stretch>
        </p:blipFill>
        <p:spPr>
          <a:xfrm>
            <a:off x="1143000" y="2103120"/>
            <a:ext cx="548640" cy="548640"/>
          </a:xfrm>
          <a:prstGeom prst="rect">
            <a:avLst/>
          </a:prstGeom>
        </p:spPr>
      </p:pic>
      <p:sp>
        <p:nvSpPr>
          <p:cNvPr id="6" name="Step 1 number"/>
          <p:cNvSpPr txBox="1"/>
          <p:nvPr/>
        </p:nvSpPr>
        <p:spPr>
          <a:xfrm>
            <a:off x="1691640" y="173736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tep 1 title"/>
          <p:cNvSpPr txBox="1"/>
          <p:nvPr/>
        </p:nvSpPr>
        <p:spPr>
          <a:xfrm>
            <a:off x="548640" y="3200400"/>
            <a:ext cx="2560320" cy="457200"/>
          </a:xfrm>
          <a:prstGeom prst="rect">
            <a:avLst/>
          </a:prstGeom>
          <a:noFill/>
          <a:ln/>
        </p:spPr>
        <p:txBody>
          <a:bodyPr wrap="square" lIns="0" tIns="0" rIns="0" bIns="0" rtlCol="0" anchor="ctr"/>
          <a:lstStyle/>
          <a:p>
            <a:pPr indent="0" marL="0">
              <a:buNone/>
            </a:pPr>
            <a:r>
              <a:rPr lang="en-US" sz="2200" b="1" dirty="0">
                <a:solidFill>
                  <a:schemeClr val="tx1"/>
                </a:solidFill>
              </a:rPr>
              <a:t>Post it</a:t>
            </a:r>
            <a:endParaRPr lang="en-US" sz="2200" dirty="0"/>
          </a:p>
        </p:txBody>
      </p:sp>
      <p:sp>
        <p:nvSpPr>
          <p:cNvPr id="8" name="Step 1 text"/>
          <p:cNvSpPr txBox="1"/>
          <p:nvPr/>
        </p:nvSpPr>
        <p:spPr>
          <a:xfrm>
            <a:off x="548640" y="3703320"/>
            <a:ext cx="2560320" cy="1463040"/>
          </a:xfrm>
          <a:prstGeom prst="rect">
            <a:avLst/>
          </a:prstGeom>
          <a:noFill/>
          <a:ln/>
        </p:spPr>
        <p:txBody>
          <a:bodyPr wrap="square" lIns="0" tIns="0" rIns="0" bIns="0" rtlCol="0" anchor="t"/>
          <a:lstStyle/>
          <a:p>
            <a:pPr indent="0" marL="0">
              <a:buNone/>
            </a:pPr>
            <a:r>
              <a:rPr lang="en-US" sz="1600" dirty="0">
                <a:solidFill>
                  <a:schemeClr val="tx2"/>
                </a:solidFill>
              </a:rPr>
              <a:t>Pick a dish from your menu, set the discount, quantity and a discard timer. About a minute.</a:t>
            </a:r>
            <a:endParaRPr lang="en-US" sz="1600" dirty="0"/>
          </a:p>
        </p:txBody>
      </p:sp>
      <p:sp>
        <p:nvSpPr>
          <p:cNvPr id="9" name="Step 2 connector"/>
          <p:cNvSpPr/>
          <p:nvPr/>
        </p:nvSpPr>
        <p:spPr>
          <a:xfrm>
            <a:off x="4709160" y="2377440"/>
            <a:ext cx="2514600" cy="0"/>
          </a:xfrm>
          <a:prstGeom prst="line">
            <a:avLst/>
          </a:prstGeom>
          <a:noFill/>
          <a:ln w="38100">
            <a:solidFill>
              <a:schemeClr val="accent3"/>
            </a:solidFill>
            <a:prstDash val="dash"/>
          </a:ln>
        </p:spPr>
      </p:sp>
      <p:sp>
        <p:nvSpPr>
          <p:cNvPr id="10" name="Step 2 circle"/>
          <p:cNvSpPr/>
          <p:nvPr/>
        </p:nvSpPr>
        <p:spPr>
          <a:xfrm>
            <a:off x="3703320" y="1828800"/>
            <a:ext cx="1097280" cy="1097280"/>
          </a:xfrm>
          <a:prstGeom prst="ellipse">
            <a:avLst/>
          </a:prstGeom>
          <a:solidFill>
            <a:schemeClr val="accent1"/>
          </a:solidFill>
          <a:ln/>
        </p:spPr>
      </p:sp>
      <p:pic>
        <p:nvPicPr>
          <p:cNvPr id="11" name="Step 2 icon" descr="preencoded.png">    </p:cNvPr>
          <p:cNvPicPr>
            <a:picLocks noChangeAspect="1"/>
          </p:cNvPicPr>
          <p:nvPr/>
        </p:nvPicPr>
        <p:blipFill>
          <a:blip r:embed="rId2"/>
          <a:stretch>
            <a:fillRect/>
          </a:stretch>
        </p:blipFill>
        <p:spPr>
          <a:xfrm>
            <a:off x="3977640" y="2103120"/>
            <a:ext cx="548640" cy="548640"/>
          </a:xfrm>
          <a:prstGeom prst="rect">
            <a:avLst/>
          </a:prstGeom>
        </p:spPr>
      </p:pic>
      <p:sp>
        <p:nvSpPr>
          <p:cNvPr id="12" name="Step 2 number"/>
          <p:cNvSpPr txBox="1"/>
          <p:nvPr/>
        </p:nvSpPr>
        <p:spPr>
          <a:xfrm>
            <a:off x="4526280" y="173736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Step 2 title"/>
          <p:cNvSpPr txBox="1"/>
          <p:nvPr/>
        </p:nvSpPr>
        <p:spPr>
          <a:xfrm>
            <a:off x="3383280" y="3200400"/>
            <a:ext cx="2560320" cy="457200"/>
          </a:xfrm>
          <a:prstGeom prst="rect">
            <a:avLst/>
          </a:prstGeom>
          <a:noFill/>
          <a:ln/>
        </p:spPr>
        <p:txBody>
          <a:bodyPr wrap="square" lIns="0" tIns="0" rIns="0" bIns="0" rtlCol="0" anchor="ctr"/>
          <a:lstStyle/>
          <a:p>
            <a:pPr indent="0" marL="0">
              <a:buNone/>
            </a:pPr>
            <a:r>
              <a:rPr lang="en-US" sz="2200" b="1" dirty="0">
                <a:solidFill>
                  <a:schemeClr val="tx1"/>
                </a:solidFill>
              </a:rPr>
              <a:t>A bell rings</a:t>
            </a:r>
            <a:endParaRPr lang="en-US" sz="2200" dirty="0"/>
          </a:p>
        </p:txBody>
      </p:sp>
      <p:sp>
        <p:nvSpPr>
          <p:cNvPr id="14" name="Step 2 text"/>
          <p:cNvSpPr txBox="1"/>
          <p:nvPr/>
        </p:nvSpPr>
        <p:spPr>
          <a:xfrm>
            <a:off x="3383280" y="3703320"/>
            <a:ext cx="2560320" cy="1463040"/>
          </a:xfrm>
          <a:prstGeom prst="rect">
            <a:avLst/>
          </a:prstGeom>
          <a:noFill/>
          <a:ln/>
        </p:spPr>
        <p:txBody>
          <a:bodyPr wrap="square" lIns="0" tIns="0" rIns="0" bIns="0" rtlCol="0" anchor="t"/>
          <a:lstStyle/>
          <a:p>
            <a:pPr indent="0" marL="0">
              <a:buNone/>
            </a:pPr>
            <a:r>
              <a:rPr lang="en-US" sz="1600" dirty="0">
                <a:solidFill>
                  <a:schemeClr val="tx2"/>
                </a:solidFill>
              </a:rPr>
              <a:t>A nearby customer orders. Their card is only held, not charged, for now.</a:t>
            </a:r>
            <a:endParaRPr lang="en-US" sz="1600" dirty="0"/>
          </a:p>
        </p:txBody>
      </p:sp>
      <p:sp>
        <p:nvSpPr>
          <p:cNvPr id="15" name="Step 3 connector"/>
          <p:cNvSpPr/>
          <p:nvPr/>
        </p:nvSpPr>
        <p:spPr>
          <a:xfrm>
            <a:off x="7543800" y="2377440"/>
            <a:ext cx="2514600" cy="0"/>
          </a:xfrm>
          <a:prstGeom prst="line">
            <a:avLst/>
          </a:prstGeom>
          <a:noFill/>
          <a:ln w="38100">
            <a:solidFill>
              <a:schemeClr val="accent3"/>
            </a:solidFill>
            <a:prstDash val="dash"/>
          </a:ln>
        </p:spPr>
      </p:sp>
      <p:sp>
        <p:nvSpPr>
          <p:cNvPr id="16" name="Step 3 circle"/>
          <p:cNvSpPr/>
          <p:nvPr/>
        </p:nvSpPr>
        <p:spPr>
          <a:xfrm>
            <a:off x="6537960" y="1828800"/>
            <a:ext cx="1097280" cy="1097280"/>
          </a:xfrm>
          <a:prstGeom prst="ellipse">
            <a:avLst/>
          </a:prstGeom>
          <a:solidFill>
            <a:schemeClr val="accent1"/>
          </a:solidFill>
          <a:ln/>
        </p:spPr>
      </p:sp>
      <p:pic>
        <p:nvPicPr>
          <p:cNvPr id="17" name="Step 3 icon" descr="preencoded.png">    </p:cNvPr>
          <p:cNvPicPr>
            <a:picLocks noChangeAspect="1"/>
          </p:cNvPicPr>
          <p:nvPr/>
        </p:nvPicPr>
        <p:blipFill>
          <a:blip r:embed="rId3"/>
          <a:stretch>
            <a:fillRect/>
          </a:stretch>
        </p:blipFill>
        <p:spPr>
          <a:xfrm>
            <a:off x="6812280" y="2103120"/>
            <a:ext cx="548640" cy="548640"/>
          </a:xfrm>
          <a:prstGeom prst="rect">
            <a:avLst/>
          </a:prstGeom>
        </p:spPr>
      </p:pic>
      <p:sp>
        <p:nvSpPr>
          <p:cNvPr id="18" name="Step 3 number"/>
          <p:cNvSpPr txBox="1"/>
          <p:nvPr/>
        </p:nvSpPr>
        <p:spPr>
          <a:xfrm>
            <a:off x="7360920" y="173736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Step 3 title"/>
          <p:cNvSpPr txBox="1"/>
          <p:nvPr/>
        </p:nvSpPr>
        <p:spPr>
          <a:xfrm>
            <a:off x="6217920" y="3200400"/>
            <a:ext cx="2560320" cy="457200"/>
          </a:xfrm>
          <a:prstGeom prst="rect">
            <a:avLst/>
          </a:prstGeom>
          <a:noFill/>
          <a:ln/>
        </p:spPr>
        <p:txBody>
          <a:bodyPr wrap="square" lIns="0" tIns="0" rIns="0" bIns="0" rtlCol="0" anchor="ctr"/>
          <a:lstStyle/>
          <a:p>
            <a:pPr indent="0" marL="0">
              <a:buNone/>
            </a:pPr>
            <a:r>
              <a:rPr lang="en-US" sz="2200" b="1" dirty="0">
                <a:solidFill>
                  <a:schemeClr val="tx1"/>
                </a:solidFill>
              </a:rPr>
              <a:t>Check the PIN</a:t>
            </a:r>
            <a:endParaRPr lang="en-US" sz="2200" dirty="0"/>
          </a:p>
        </p:txBody>
      </p:sp>
      <p:sp>
        <p:nvSpPr>
          <p:cNvPr id="20" name="Step 3 text"/>
          <p:cNvSpPr txBox="1"/>
          <p:nvPr/>
        </p:nvSpPr>
        <p:spPr>
          <a:xfrm>
            <a:off x="6217920" y="3703320"/>
            <a:ext cx="2560320" cy="1463040"/>
          </a:xfrm>
          <a:prstGeom prst="rect">
            <a:avLst/>
          </a:prstGeom>
          <a:noFill/>
          <a:ln/>
        </p:spPr>
        <p:txBody>
          <a:bodyPr wrap="square" lIns="0" tIns="0" rIns="0" bIns="0" rtlCol="0" anchor="t"/>
          <a:lstStyle/>
          <a:p>
            <a:pPr indent="0" marL="0">
              <a:buNone/>
            </a:pPr>
            <a:r>
              <a:rPr lang="en-US" sz="1600" dirty="0">
                <a:solidFill>
                  <a:schemeClr val="tx2"/>
                </a:solidFill>
              </a:rPr>
              <a:t>At the counter, type the customer's 4-digit pickup PIN and hand over the food.</a:t>
            </a:r>
            <a:endParaRPr lang="en-US" sz="1600" dirty="0"/>
          </a:p>
        </p:txBody>
      </p:sp>
      <p:sp>
        <p:nvSpPr>
          <p:cNvPr id="21" name="Step 4 circle"/>
          <p:cNvSpPr/>
          <p:nvPr/>
        </p:nvSpPr>
        <p:spPr>
          <a:xfrm>
            <a:off x="9372600" y="1828800"/>
            <a:ext cx="1097280" cy="1097280"/>
          </a:xfrm>
          <a:prstGeom prst="ellipse">
            <a:avLst/>
          </a:prstGeom>
          <a:solidFill>
            <a:schemeClr val="accent1"/>
          </a:solidFill>
          <a:ln/>
        </p:spPr>
      </p:sp>
      <p:pic>
        <p:nvPicPr>
          <p:cNvPr id="22" name="Step 4 icon" descr="preencoded.png">    </p:cNvPr>
          <p:cNvPicPr>
            <a:picLocks noChangeAspect="1"/>
          </p:cNvPicPr>
          <p:nvPr/>
        </p:nvPicPr>
        <p:blipFill>
          <a:blip r:embed="rId4"/>
          <a:stretch>
            <a:fillRect/>
          </a:stretch>
        </p:blipFill>
        <p:spPr>
          <a:xfrm>
            <a:off x="9646920" y="2103120"/>
            <a:ext cx="548640" cy="548640"/>
          </a:xfrm>
          <a:prstGeom prst="rect">
            <a:avLst/>
          </a:prstGeom>
        </p:spPr>
      </p:pic>
      <p:sp>
        <p:nvSpPr>
          <p:cNvPr id="23" name="Step 4 number"/>
          <p:cNvSpPr txBox="1"/>
          <p:nvPr/>
        </p:nvSpPr>
        <p:spPr>
          <a:xfrm>
            <a:off x="10195560" y="173736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Step 4 title"/>
          <p:cNvSpPr txBox="1"/>
          <p:nvPr/>
        </p:nvSpPr>
        <p:spPr>
          <a:xfrm>
            <a:off x="9052560" y="3200400"/>
            <a:ext cx="2560320" cy="457200"/>
          </a:xfrm>
          <a:prstGeom prst="rect">
            <a:avLst/>
          </a:prstGeom>
          <a:noFill/>
          <a:ln/>
        </p:spPr>
        <p:txBody>
          <a:bodyPr wrap="square" lIns="0" tIns="0" rIns="0" bIns="0" rtlCol="0" anchor="ctr"/>
          <a:lstStyle/>
          <a:p>
            <a:pPr indent="0" marL="0">
              <a:buNone/>
            </a:pPr>
            <a:r>
              <a:rPr lang="en-US" sz="2200" b="1" dirty="0">
                <a:solidFill>
                  <a:schemeClr val="tx1"/>
                </a:solidFill>
              </a:rPr>
              <a:t>Get paid</a:t>
            </a:r>
            <a:endParaRPr lang="en-US" sz="2200" dirty="0"/>
          </a:p>
        </p:txBody>
      </p:sp>
      <p:sp>
        <p:nvSpPr>
          <p:cNvPr id="25" name="Step 4 text"/>
          <p:cNvSpPr txBox="1"/>
          <p:nvPr/>
        </p:nvSpPr>
        <p:spPr>
          <a:xfrm>
            <a:off x="9052560" y="3703320"/>
            <a:ext cx="2560320" cy="1463040"/>
          </a:xfrm>
          <a:prstGeom prst="rect">
            <a:avLst/>
          </a:prstGeom>
          <a:noFill/>
          <a:ln/>
        </p:spPr>
        <p:txBody>
          <a:bodyPr wrap="square" lIns="0" tIns="0" rIns="0" bIns="0" rtlCol="0" anchor="t"/>
          <a:lstStyle/>
          <a:p>
            <a:pPr indent="0" marL="0">
              <a:buNone/>
            </a:pPr>
            <a:r>
              <a:rPr lang="en-US" sz="1600" dirty="0">
                <a:solidFill>
                  <a:schemeClr val="tx2"/>
                </a:solidFill>
              </a:rPr>
              <a:t>The card is charged at pickup, and your share goes to your Stripe account.</a:t>
            </a:r>
            <a:endParaRPr lang="en-US" sz="1600" dirty="0"/>
          </a:p>
        </p:txBody>
      </p:sp>
      <p:sp>
        <p:nvSpPr>
          <p:cNvPr id="26" name="No-show note"/>
          <p:cNvSpPr txBox="1"/>
          <p:nvPr/>
        </p:nvSpPr>
        <p:spPr>
          <a:xfrm>
            <a:off x="548640" y="5486400"/>
            <a:ext cx="9601200" cy="411480"/>
          </a:xfrm>
          <a:prstGeom prst="rect">
            <a:avLst/>
          </a:prstGeom>
          <a:noFill/>
          <a:ln/>
        </p:spPr>
        <p:txBody>
          <a:bodyPr wrap="square" lIns="0" tIns="0" rIns="0" bIns="0" rtlCol="0" anchor="ctr"/>
          <a:lstStyle/>
          <a:p>
            <a:pPr indent="0" marL="0">
              <a:buNone/>
            </a:pPr>
            <a:r>
              <a:rPr lang="en-US" sz="1400" i="1" dirty="0">
                <a:solidFill>
                  <a:schemeClr val="tx2"/>
                </a:solidFill>
              </a:rPr>
              <a:t>No-shows are released automatically when the discard timer ends, and the customer is not charged.</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Post an offer in about a minute</a:t>
            </a:r>
            <a:endParaRPr lang="en-US" sz="3600" dirty="0"/>
          </a:p>
        </p:txBody>
      </p:sp>
      <p:sp>
        <p:nvSpPr>
          <p:cNvPr id="3" name="Offers screenshot frame"/>
          <p:cNvSpPr/>
          <p:nvPr/>
        </p:nvSpPr>
        <p:spPr>
          <a:xfrm>
            <a:off x="539496" y="1408176"/>
            <a:ext cx="6784848" cy="3864483"/>
          </a:xfrm>
          <a:prstGeom prst="roundRect">
            <a:avLst>
              <a:gd name="adj" fmla="val 2839"/>
            </a:avLst>
          </a:prstGeom>
          <a:solidFill>
            <a:schemeClr val="tx1"/>
          </a:solidFill>
          <a:ln/>
          <a:effectLst>
            <a:outerShdw sx="100000" sy="100000" kx="0" ky="0" algn="bl" rotWithShape="0" blurRad="127000" dist="38100" dir="5400000">
              <a:srgbClr val="000000">
                <a:alpha val="18000"/>
              </a:srgbClr>
            </a:outerShdw>
          </a:effectLst>
        </p:spPr>
      </p:sp>
      <p:pic>
        <p:nvPicPr>
          <p:cNvPr id="4" name="Offers screenshot" descr="/tmp/claude-0/-home-user-RescueBites/e2cfd2a4-15d3-55a4-8cb5-5a18f8cff6b8/scratchpad/deck/frames/r29.jpg">    </p:cNvPr>
          <p:cNvPicPr>
            <a:picLocks noChangeAspect="1"/>
          </p:cNvPicPr>
          <p:nvPr/>
        </p:nvPicPr>
        <p:blipFill>
          <a:blip r:embed="rId1"/>
          <a:stretch>
            <a:fillRect/>
          </a:stretch>
        </p:blipFill>
        <p:spPr>
          <a:xfrm>
            <a:off x="594360" y="1463040"/>
            <a:ext cx="6675120" cy="3754755"/>
          </a:xfrm>
          <a:prstGeom prst="rect">
            <a:avLst/>
          </a:prstGeom>
        </p:spPr>
      </p:pic>
      <p:pic>
        <p:nvPicPr>
          <p:cNvPr id="5" name="Feature 1 check" descr="preencoded.png">    </p:cNvPr>
          <p:cNvPicPr>
            <a:picLocks noChangeAspect="1"/>
          </p:cNvPicPr>
          <p:nvPr/>
        </p:nvPicPr>
        <p:blipFill>
          <a:blip r:embed="rId2"/>
          <a:stretch>
            <a:fillRect/>
          </a:stretch>
        </p:blipFill>
        <p:spPr>
          <a:xfrm>
            <a:off x="7680960" y="1499616"/>
            <a:ext cx="292608" cy="292608"/>
          </a:xfrm>
          <a:prstGeom prst="rect">
            <a:avLst/>
          </a:prstGeom>
        </p:spPr>
      </p:pic>
      <p:sp>
        <p:nvSpPr>
          <p:cNvPr id="6" name="Feature 1 title"/>
          <p:cNvSpPr txBox="1"/>
          <p:nvPr/>
        </p:nvSpPr>
        <p:spPr>
          <a:xfrm>
            <a:off x="8092440" y="146304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Pick from your menu</a:t>
            </a:r>
            <a:endParaRPr lang="en-US" sz="1800" dirty="0"/>
          </a:p>
        </p:txBody>
      </p:sp>
      <p:sp>
        <p:nvSpPr>
          <p:cNvPr id="7" name="Feature 1 text"/>
          <p:cNvSpPr txBox="1"/>
          <p:nvPr/>
        </p:nvSpPr>
        <p:spPr>
          <a:xfrm>
            <a:off x="8092440" y="1828800"/>
            <a:ext cx="3566160" cy="594360"/>
          </a:xfrm>
          <a:prstGeom prst="rect">
            <a:avLst/>
          </a:prstGeom>
          <a:noFill/>
          <a:ln/>
        </p:spPr>
        <p:txBody>
          <a:bodyPr wrap="square" lIns="0" tIns="0" rIns="0" bIns="0" rtlCol="0" anchor="t"/>
          <a:lstStyle/>
          <a:p>
            <a:pPr indent="0" marL="0">
              <a:buNone/>
            </a:pPr>
            <a:r>
              <a:rPr lang="en-US" sz="1400" dirty="0">
                <a:solidFill>
                  <a:schemeClr val="tx2"/>
                </a:solidFill>
              </a:rPr>
              <a:t>Photos, dietary tags and allergen notes come with it. Import your menu from your website or a file.</a:t>
            </a:r>
            <a:endParaRPr lang="en-US" sz="1400" dirty="0"/>
          </a:p>
        </p:txBody>
      </p:sp>
      <p:pic>
        <p:nvPicPr>
          <p:cNvPr id="8" name="Feature 2 check" descr="preencoded.png">    </p:cNvPr>
          <p:cNvPicPr>
            <a:picLocks noChangeAspect="1"/>
          </p:cNvPicPr>
          <p:nvPr/>
        </p:nvPicPr>
        <p:blipFill>
          <a:blip r:embed="rId3"/>
          <a:stretch>
            <a:fillRect/>
          </a:stretch>
        </p:blipFill>
        <p:spPr>
          <a:xfrm>
            <a:off x="7680960" y="2523744"/>
            <a:ext cx="292608" cy="292608"/>
          </a:xfrm>
          <a:prstGeom prst="rect">
            <a:avLst/>
          </a:prstGeom>
        </p:spPr>
      </p:pic>
      <p:sp>
        <p:nvSpPr>
          <p:cNvPr id="9" name="Feature 2 title"/>
          <p:cNvSpPr txBox="1"/>
          <p:nvPr/>
        </p:nvSpPr>
        <p:spPr>
          <a:xfrm>
            <a:off x="8092440" y="2487168"/>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Discard timers</a:t>
            </a:r>
            <a:endParaRPr lang="en-US" sz="1800" dirty="0"/>
          </a:p>
        </p:txBody>
      </p:sp>
      <p:sp>
        <p:nvSpPr>
          <p:cNvPr id="10" name="Feature 2 text"/>
          <p:cNvSpPr txBox="1"/>
          <p:nvPr/>
        </p:nvSpPr>
        <p:spPr>
          <a:xfrm>
            <a:off x="8092440" y="2852928"/>
            <a:ext cx="3566160" cy="594360"/>
          </a:xfrm>
          <a:prstGeom prst="rect">
            <a:avLst/>
          </a:prstGeom>
          <a:noFill/>
          <a:ln/>
        </p:spPr>
        <p:txBody>
          <a:bodyPr wrap="square" lIns="0" tIns="0" rIns="0" bIns="0" rtlCol="0" anchor="t"/>
          <a:lstStyle/>
          <a:p>
            <a:pPr indent="0" marL="0">
              <a:buNone/>
            </a:pPr>
            <a:r>
              <a:rPr lang="en-US" sz="1400" dirty="0">
                <a:solidFill>
                  <a:schemeClr val="tx2"/>
                </a:solidFill>
              </a:rPr>
              <a:t>Each offer ends when the food stops being safe to sell. Extend it with one tap.</a:t>
            </a:r>
            <a:endParaRPr lang="en-US" sz="1400" dirty="0"/>
          </a:p>
        </p:txBody>
      </p:sp>
      <p:pic>
        <p:nvPicPr>
          <p:cNvPr id="11" name="Feature 3 check" descr="preencoded.png">    </p:cNvPr>
          <p:cNvPicPr>
            <a:picLocks noChangeAspect="1"/>
          </p:cNvPicPr>
          <p:nvPr/>
        </p:nvPicPr>
        <p:blipFill>
          <a:blip r:embed="rId4"/>
          <a:stretch>
            <a:fillRect/>
          </a:stretch>
        </p:blipFill>
        <p:spPr>
          <a:xfrm>
            <a:off x="7680960" y="3547872"/>
            <a:ext cx="292608" cy="292608"/>
          </a:xfrm>
          <a:prstGeom prst="rect">
            <a:avLst/>
          </a:prstGeom>
        </p:spPr>
      </p:pic>
      <p:sp>
        <p:nvSpPr>
          <p:cNvPr id="12" name="Feature 3 title"/>
          <p:cNvSpPr txBox="1"/>
          <p:nvPr/>
        </p:nvSpPr>
        <p:spPr>
          <a:xfrm>
            <a:off x="8092440" y="3511296"/>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Pause, edit or end</a:t>
            </a:r>
            <a:endParaRPr lang="en-US" sz="1800" dirty="0"/>
          </a:p>
        </p:txBody>
      </p:sp>
      <p:sp>
        <p:nvSpPr>
          <p:cNvPr id="13" name="Feature 3 text"/>
          <p:cNvSpPr txBox="1"/>
          <p:nvPr/>
        </p:nvSpPr>
        <p:spPr>
          <a:xfrm>
            <a:off x="8092440" y="3877056"/>
            <a:ext cx="3566160" cy="594360"/>
          </a:xfrm>
          <a:prstGeom prst="rect">
            <a:avLst/>
          </a:prstGeom>
          <a:noFill/>
          <a:ln/>
        </p:spPr>
        <p:txBody>
          <a:bodyPr wrap="square" lIns="0" tIns="0" rIns="0" bIns="0" rtlCol="0" anchor="t"/>
          <a:lstStyle/>
          <a:p>
            <a:pPr indent="0" marL="0">
              <a:buNone/>
            </a:pPr>
            <a:r>
              <a:rPr lang="en-US" sz="1400" dirty="0">
                <a:solidFill>
                  <a:schemeClr val="tx2"/>
                </a:solidFill>
              </a:rPr>
              <a:t>Stay in control of every offer, any time.</a:t>
            </a:r>
            <a:endParaRPr lang="en-US" sz="1400" dirty="0"/>
          </a:p>
        </p:txBody>
      </p:sp>
      <p:pic>
        <p:nvPicPr>
          <p:cNvPr id="14" name="Feature 4 check" descr="preencoded.png">    </p:cNvPr>
          <p:cNvPicPr>
            <a:picLocks noChangeAspect="1"/>
          </p:cNvPicPr>
          <p:nvPr/>
        </p:nvPicPr>
        <p:blipFill>
          <a:blip r:embed="rId5"/>
          <a:stretch>
            <a:fillRect/>
          </a:stretch>
        </p:blipFill>
        <p:spPr>
          <a:xfrm>
            <a:off x="7680960" y="4572000"/>
            <a:ext cx="292608" cy="292608"/>
          </a:xfrm>
          <a:prstGeom prst="rect">
            <a:avLst/>
          </a:prstGeom>
        </p:spPr>
      </p:pic>
      <p:sp>
        <p:nvSpPr>
          <p:cNvPr id="15" name="Feature 4 title"/>
          <p:cNvSpPr txBox="1"/>
          <p:nvPr/>
        </p:nvSpPr>
        <p:spPr>
          <a:xfrm>
            <a:off x="8092440" y="453542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Your whole team</a:t>
            </a:r>
            <a:endParaRPr lang="en-US" sz="1800" dirty="0"/>
          </a:p>
        </p:txBody>
      </p:sp>
      <p:sp>
        <p:nvSpPr>
          <p:cNvPr id="16" name="Feature 4 text"/>
          <p:cNvSpPr txBox="1"/>
          <p:nvPr/>
        </p:nvSpPr>
        <p:spPr>
          <a:xfrm>
            <a:off x="8092440" y="4901184"/>
            <a:ext cx="3566160" cy="594360"/>
          </a:xfrm>
          <a:prstGeom prst="rect">
            <a:avLst/>
          </a:prstGeom>
          <a:noFill/>
          <a:ln/>
        </p:spPr>
        <p:txBody>
          <a:bodyPr wrap="square" lIns="0" tIns="0" rIns="0" bIns="0" rtlCol="0" anchor="t"/>
          <a:lstStyle/>
          <a:p>
            <a:pPr indent="0" marL="0">
              <a:buNone/>
            </a:pPr>
            <a:r>
              <a:rPr lang="en-US" sz="1400" dirty="0">
                <a:solidFill>
                  <a:schemeClr val="tx2"/>
                </a:solidFill>
              </a:rPr>
              <a:t>Add managers and supervisors with their own logins.</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Counter kiosk on any tablet, payouts at every pickup</a:t>
            </a:r>
            <a:endParaRPr lang="en-US" sz="3600" dirty="0"/>
          </a:p>
        </p:txBody>
      </p:sp>
      <p:sp>
        <p:nvSpPr>
          <p:cNvPr id="3" name="Verify pickup screenshot frame"/>
          <p:cNvSpPr/>
          <p:nvPr/>
        </p:nvSpPr>
        <p:spPr>
          <a:xfrm>
            <a:off x="539496" y="1453896"/>
            <a:ext cx="5458968" cy="3118676"/>
          </a:xfrm>
          <a:prstGeom prst="roundRect">
            <a:avLst>
              <a:gd name="adj" fmla="val 3518"/>
            </a:avLst>
          </a:prstGeom>
          <a:solidFill>
            <a:schemeClr val="tx1"/>
          </a:solidFill>
          <a:ln/>
          <a:effectLst>
            <a:outerShdw sx="100000" sy="100000" kx="0" ky="0" algn="bl" rotWithShape="0" blurRad="127000" dist="38100" dir="5400000">
              <a:srgbClr val="000000">
                <a:alpha val="18000"/>
              </a:srgbClr>
            </a:outerShdw>
          </a:effectLst>
        </p:spPr>
      </p:sp>
      <p:pic>
        <p:nvPicPr>
          <p:cNvPr id="4" name="Verify pickup screenshot" descr="/tmp/claude-0/-home-user-RescueBites/e2cfd2a4-15d3-55a4-8cb5-5a18f8cff6b8/scratchpad/deck/frames/r36.jpg">    </p:cNvPr>
          <p:cNvPicPr>
            <a:picLocks noChangeAspect="1"/>
          </p:cNvPicPr>
          <p:nvPr/>
        </p:nvPicPr>
        <p:blipFill>
          <a:blip r:embed="rId1"/>
          <a:stretch>
            <a:fillRect/>
          </a:stretch>
        </p:blipFill>
        <p:spPr>
          <a:xfrm>
            <a:off x="594360" y="1508760"/>
            <a:ext cx="5349240" cy="3008948"/>
          </a:xfrm>
          <a:prstGeom prst="rect">
            <a:avLst/>
          </a:prstGeom>
        </p:spPr>
      </p:pic>
      <p:sp>
        <p:nvSpPr>
          <p:cNvPr id="5" name="Payouts screenshot frame"/>
          <p:cNvSpPr/>
          <p:nvPr/>
        </p:nvSpPr>
        <p:spPr>
          <a:xfrm>
            <a:off x="6208776" y="1453896"/>
            <a:ext cx="5458968" cy="3118676"/>
          </a:xfrm>
          <a:prstGeom prst="roundRect">
            <a:avLst>
              <a:gd name="adj" fmla="val 3518"/>
            </a:avLst>
          </a:prstGeom>
          <a:solidFill>
            <a:schemeClr val="tx1"/>
          </a:solidFill>
          <a:ln/>
          <a:effectLst>
            <a:outerShdw sx="100000" sy="100000" kx="0" ky="0" algn="bl" rotWithShape="0" blurRad="127000" dist="38100" dir="5400000">
              <a:srgbClr val="000000">
                <a:alpha val="18000"/>
              </a:srgbClr>
            </a:outerShdw>
          </a:effectLst>
        </p:spPr>
      </p:sp>
      <p:pic>
        <p:nvPicPr>
          <p:cNvPr id="6" name="Payouts screenshot" descr="/tmp/claude-0/-home-user-RescueBites/e2cfd2a4-15d3-55a4-8cb5-5a18f8cff6b8/scratchpad/deck/frames/r52.jpg">    </p:cNvPr>
          <p:cNvPicPr>
            <a:picLocks noChangeAspect="1"/>
          </p:cNvPicPr>
          <p:nvPr/>
        </p:nvPicPr>
        <p:blipFill>
          <a:blip r:embed="rId2"/>
          <a:stretch>
            <a:fillRect/>
          </a:stretch>
        </p:blipFill>
        <p:spPr>
          <a:xfrm>
            <a:off x="6263640" y="1508760"/>
            <a:ext cx="5349240" cy="3008948"/>
          </a:xfrm>
          <a:prstGeom prst="rect">
            <a:avLst/>
          </a:prstGeom>
        </p:spPr>
      </p:pic>
      <p:sp>
        <p:nvSpPr>
          <p:cNvPr id="7" name="Kiosk text"/>
          <p:cNvSpPr txBox="1"/>
          <p:nvPr/>
        </p:nvSpPr>
        <p:spPr>
          <a:xfrm>
            <a:off x="594360" y="4709160"/>
            <a:ext cx="5349240" cy="1097280"/>
          </a:xfrm>
          <a:prstGeom prst="rect">
            <a:avLst/>
          </a:prstGeom>
          <a:noFill/>
          <a:ln/>
        </p:spPr>
        <p:txBody>
          <a:bodyPr wrap="square" lIns="0" tIns="0" rIns="0" bIns="0" rtlCol="0" anchor="t"/>
          <a:lstStyle/>
          <a:p>
            <a:pPr indent="0" marL="0">
              <a:buNone/>
            </a:pPr>
            <a:r>
              <a:rPr lang="en-US" sz="1500" b="1" dirty="0">
                <a:solidFill>
                  <a:schemeClr val="tx1"/>
                </a:solidFill>
              </a:rPr>
              <a:t>Counter kiosk. </a:t>
            </a:r>
            <a:pPr indent="0" marL="0">
              <a:buNone/>
            </a:pPr>
            <a:r>
              <a:rPr lang="en-US" sz="1500" dirty="0">
                <a:solidFill>
                  <a:schemeClr val="tx2"/>
                </a:solidFill>
              </a:rPr>
              <a:t>Open your private kiosk link on any Android tablet or iPad. New orders ring a bell; staff type the PIN. No special hardware.</a:t>
            </a:r>
            <a:endParaRPr lang="en-US" sz="1500" dirty="0"/>
          </a:p>
        </p:txBody>
      </p:sp>
      <p:sp>
        <p:nvSpPr>
          <p:cNvPr id="8" name="Payouts text"/>
          <p:cNvSpPr txBox="1"/>
          <p:nvPr/>
        </p:nvSpPr>
        <p:spPr>
          <a:xfrm>
            <a:off x="6263640" y="4709160"/>
            <a:ext cx="5349240" cy="1097280"/>
          </a:xfrm>
          <a:prstGeom prst="rect">
            <a:avLst/>
          </a:prstGeom>
          <a:noFill/>
          <a:ln/>
        </p:spPr>
        <p:txBody>
          <a:bodyPr wrap="square" lIns="0" tIns="0" rIns="0" bIns="0" rtlCol="0" anchor="t"/>
          <a:lstStyle/>
          <a:p>
            <a:pPr indent="0" marL="0">
              <a:buNone/>
            </a:pPr>
            <a:r>
              <a:rPr lang="en-US" sz="1500" b="1" dirty="0">
                <a:solidFill>
                  <a:schemeClr val="tx1"/>
                </a:solidFill>
              </a:rPr>
              <a:t>Payouts and reports. </a:t>
            </a:r>
            <a:pPr indent="0" marL="0">
              <a:buNone/>
            </a:pPr>
            <a:r>
              <a:rPr lang="en-US" sz="1500" dirty="0">
                <a:solidFill>
                  <a:schemeClr val="tx2"/>
                </a:solidFill>
              </a:rPr>
              <a:t>Every payment with its invoice number, in US or Canadian dollars. Daily sales reports with print, PDF and CSV.</a:t>
            </a:r>
            <a:endParaRPr lang="en-US" sz="15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One simple plan, and no commission on your food sales</a:t>
            </a:r>
            <a:endParaRPr lang="en-US" sz="3600" dirty="0"/>
          </a:p>
        </p:txBody>
      </p:sp>
      <p:sp>
        <p:nvSpPr>
          <p:cNvPr id="3" name="Pioneer Member card"/>
          <p:cNvSpPr/>
          <p:nvPr/>
        </p:nvSpPr>
        <p:spPr>
          <a:xfrm>
            <a:off x="548640" y="1508760"/>
            <a:ext cx="3474720" cy="3840480"/>
          </a:xfrm>
          <a:prstGeom prst="roundRect">
            <a:avLst>
              <a:gd name="adj" fmla="val 3947"/>
            </a:avLst>
          </a:prstGeom>
          <a:solidFill>
            <a:schemeClr val="tx1"/>
          </a:solidFill>
          <a:ln/>
          <a:effectLst>
            <a:outerShdw sx="100000" sy="100000" kx="0" ky="0" algn="bl" rotWithShape="0" blurRad="127000" dist="38100" dir="5400000">
              <a:srgbClr val="000000">
                <a:alpha val="18000"/>
              </a:srgbClr>
            </a:outerShdw>
          </a:effectLst>
        </p:spPr>
      </p:sp>
      <p:sp>
        <p:nvSpPr>
          <p:cNvPr id="4" name="Popular badge"/>
          <p:cNvSpPr txBox="1"/>
          <p:nvPr/>
        </p:nvSpPr>
        <p:spPr>
          <a:xfrm>
            <a:off x="868680" y="1783080"/>
            <a:ext cx="17373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bg1"/>
                </a:solidFill>
              </a:rPr>
              <a:t>ONLY 50 SPOTS</a:t>
            </a:r>
            <a:endParaRPr lang="en-US" sz="1100" dirty="0"/>
          </a:p>
        </p:txBody>
      </p:sp>
      <p:sp>
        <p:nvSpPr>
          <p:cNvPr id="5" name="Pioneer Member name"/>
          <p:cNvSpPr txBox="1"/>
          <p:nvPr/>
        </p:nvSpPr>
        <p:spPr>
          <a:xfrm>
            <a:off x="868680" y="2240280"/>
            <a:ext cx="2834640" cy="411480"/>
          </a:xfrm>
          <a:prstGeom prst="rect">
            <a:avLst/>
          </a:prstGeom>
          <a:noFill/>
          <a:ln/>
        </p:spPr>
        <p:txBody>
          <a:bodyPr wrap="square" lIns="0" tIns="0" rIns="0" bIns="0" rtlCol="0" anchor="ctr"/>
          <a:lstStyle/>
          <a:p>
            <a:pPr indent="0" marL="0">
              <a:buNone/>
            </a:pPr>
            <a:r>
              <a:rPr lang="en-US" sz="2000" b="1" dirty="0">
                <a:solidFill>
                  <a:schemeClr val="bg1"/>
                </a:solidFill>
              </a:rPr>
              <a:t>Pioneer Member</a:t>
            </a:r>
            <a:endParaRPr lang="en-US" sz="2000" dirty="0"/>
          </a:p>
        </p:txBody>
      </p:sp>
      <p:sp>
        <p:nvSpPr>
          <p:cNvPr id="6" name="Pioneer Member price"/>
          <p:cNvSpPr txBox="1"/>
          <p:nvPr/>
        </p:nvSpPr>
        <p:spPr>
          <a:xfrm>
            <a:off x="868680" y="2697480"/>
            <a:ext cx="3017520" cy="868680"/>
          </a:xfrm>
          <a:prstGeom prst="rect">
            <a:avLst/>
          </a:prstGeom>
          <a:noFill/>
          <a:ln/>
        </p:spPr>
        <p:txBody>
          <a:bodyPr wrap="square" lIns="0" tIns="0" rIns="0" bIns="0" rtlCol="0" anchor="ctr"/>
          <a:lstStyle/>
          <a:p>
            <a:pPr indent="0" marL="0">
              <a:buNone/>
            </a:pPr>
            <a:r>
              <a:rPr lang="en-US" sz="5400" b="1" dirty="0">
                <a:solidFill>
                  <a:schemeClr val="accent2"/>
                </a:solidFill>
              </a:rPr>
              <a:t>$0</a:t>
            </a:r>
            <a:pPr indent="0" marL="0">
              <a:buNone/>
            </a:pPr>
            <a:r>
              <a:rPr lang="en-US" sz="1600" dirty="0">
                <a:solidFill>
                  <a:schemeClr val="bg2"/>
                </a:solidFill>
              </a:rPr>
              <a:t>  free for life</a:t>
            </a:r>
            <a:endParaRPr lang="en-US" sz="5400" dirty="0"/>
          </a:p>
        </p:txBody>
      </p:sp>
      <p:sp>
        <p:nvSpPr>
          <p:cNvPr id="7" name="Pioneer Member audience"/>
          <p:cNvSpPr txBox="1"/>
          <p:nvPr/>
        </p:nvSpPr>
        <p:spPr>
          <a:xfrm>
            <a:off x="868680" y="3611880"/>
            <a:ext cx="2926080" cy="365760"/>
          </a:xfrm>
          <a:prstGeom prst="rect">
            <a:avLst/>
          </a:prstGeom>
          <a:noFill/>
          <a:ln/>
        </p:spPr>
        <p:txBody>
          <a:bodyPr wrap="square" lIns="0" tIns="0" rIns="0" bIns="0" rtlCol="0" anchor="ctr"/>
          <a:lstStyle/>
          <a:p>
            <a:pPr indent="0" marL="0">
              <a:buNone/>
            </a:pPr>
            <a:r>
              <a:rPr lang="en-US" sz="1400" i="1" dirty="0">
                <a:solidFill>
                  <a:schemeClr val="bg2"/>
                </a:solidFill>
              </a:rPr>
              <a:t>The first 50 restaurants approved</a:t>
            </a:r>
            <a:endParaRPr lang="en-US" sz="1400" dirty="0"/>
          </a:p>
        </p:txBody>
      </p:sp>
      <p:sp>
        <p:nvSpPr>
          <p:cNvPr id="8" name="Pioneer Member points"/>
          <p:cNvSpPr txBox="1"/>
          <p:nvPr/>
        </p:nvSpPr>
        <p:spPr>
          <a:xfrm>
            <a:off x="868680" y="4069080"/>
            <a:ext cx="2926080" cy="13716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bg1"/>
                </a:solidFill>
              </a:rPr>
              <a:t>No card needed</a:t>
            </a:r>
            <a:endParaRPr lang="en-US" sz="1400" dirty="0"/>
          </a:p>
          <a:p>
            <a:pPr marL="203200" indent="-203200">
              <a:spcAft>
                <a:spcPts val="600"/>
              </a:spcAft>
              <a:buSzPct val="100000"/>
              <a:buChar char="•"/>
            </a:pPr>
            <a:r>
              <a:rPr lang="en-US" sz="1400" dirty="0">
                <a:solidFill>
                  <a:schemeClr val="bg1"/>
                </a:solidFill>
              </a:rPr>
              <a:t>Every feature included</a:t>
            </a:r>
            <a:endParaRPr lang="en-US" sz="1400" dirty="0"/>
          </a:p>
          <a:p>
            <a:pPr marL="203200" indent="-203200">
              <a:spcAft>
                <a:spcPts val="600"/>
              </a:spcAft>
              <a:buSzPct val="100000"/>
              <a:buChar char="•"/>
            </a:pPr>
            <a:r>
              <a:rPr lang="en-US" sz="1400" dirty="0">
                <a:solidFill>
                  <a:schemeClr val="bg1"/>
                </a:solidFill>
              </a:rPr>
              <a:t>Spot assigned in order of approval</a:t>
            </a:r>
            <a:endParaRPr lang="en-US" sz="1400" dirty="0"/>
          </a:p>
        </p:txBody>
      </p:sp>
      <p:sp>
        <p:nvSpPr>
          <p:cNvPr id="9" name="Monthly card"/>
          <p:cNvSpPr/>
          <p:nvPr/>
        </p:nvSpPr>
        <p:spPr>
          <a:xfrm>
            <a:off x="4297680" y="1508760"/>
            <a:ext cx="3474720" cy="3840480"/>
          </a:xfrm>
          <a:prstGeom prst="roundRect">
            <a:avLst>
              <a:gd name="adj" fmla="val 3947"/>
            </a:avLst>
          </a:prstGeom>
          <a:solidFill>
            <a:schemeClr val="bg1"/>
          </a:solidFill>
          <a:ln/>
          <a:effectLst>
            <a:outerShdw sx="100000" sy="100000" kx="0" ky="0" algn="bl" rotWithShape="0" blurRad="127000" dist="38100" dir="5400000">
              <a:srgbClr val="000000">
                <a:alpha val="18000"/>
              </a:srgbClr>
            </a:outerShdw>
          </a:effectLst>
        </p:spPr>
      </p:sp>
      <p:sp>
        <p:nvSpPr>
          <p:cNvPr id="10" name="Monthly name"/>
          <p:cNvSpPr txBox="1"/>
          <p:nvPr/>
        </p:nvSpPr>
        <p:spPr>
          <a:xfrm>
            <a:off x="4617720" y="2240280"/>
            <a:ext cx="2834640" cy="411480"/>
          </a:xfrm>
          <a:prstGeom prst="rect">
            <a:avLst/>
          </a:prstGeom>
          <a:noFill/>
          <a:ln/>
        </p:spPr>
        <p:txBody>
          <a:bodyPr wrap="square" lIns="0" tIns="0" rIns="0" bIns="0" rtlCol="0" anchor="ctr"/>
          <a:lstStyle/>
          <a:p>
            <a:pPr indent="0" marL="0">
              <a:buNone/>
            </a:pPr>
            <a:r>
              <a:rPr lang="en-US" sz="2000" b="1" dirty="0">
                <a:solidFill>
                  <a:schemeClr val="tx1"/>
                </a:solidFill>
              </a:rPr>
              <a:t>Monthly</a:t>
            </a:r>
            <a:endParaRPr lang="en-US" sz="2000" dirty="0"/>
          </a:p>
        </p:txBody>
      </p:sp>
      <p:sp>
        <p:nvSpPr>
          <p:cNvPr id="11" name="Monthly price"/>
          <p:cNvSpPr txBox="1"/>
          <p:nvPr/>
        </p:nvSpPr>
        <p:spPr>
          <a:xfrm>
            <a:off x="4617720" y="2697480"/>
            <a:ext cx="3017520" cy="868680"/>
          </a:xfrm>
          <a:prstGeom prst="rect">
            <a:avLst/>
          </a:prstGeom>
          <a:noFill/>
          <a:ln/>
        </p:spPr>
        <p:txBody>
          <a:bodyPr wrap="square" lIns="0" tIns="0" rIns="0" bIns="0" rtlCol="0" anchor="ctr"/>
          <a:lstStyle/>
          <a:p>
            <a:pPr indent="0" marL="0">
              <a:buNone/>
            </a:pPr>
            <a:r>
              <a:rPr lang="en-US" sz="5400" b="1" dirty="0">
                <a:solidFill>
                  <a:schemeClr val="accent1"/>
                </a:solidFill>
              </a:rPr>
              <a:t>$15</a:t>
            </a:r>
            <a:pPr indent="0" marL="0">
              <a:buNone/>
            </a:pPr>
            <a:r>
              <a:rPr lang="en-US" sz="1600" dirty="0">
                <a:solidFill>
                  <a:schemeClr val="tx2"/>
                </a:solidFill>
              </a:rPr>
              <a:t>  per month</a:t>
            </a:r>
            <a:endParaRPr lang="en-US" sz="5400" dirty="0"/>
          </a:p>
        </p:txBody>
      </p:sp>
      <p:sp>
        <p:nvSpPr>
          <p:cNvPr id="12" name="Monthly audience"/>
          <p:cNvSpPr txBox="1"/>
          <p:nvPr/>
        </p:nvSpPr>
        <p:spPr>
          <a:xfrm>
            <a:off x="4617720" y="3611880"/>
            <a:ext cx="2926080" cy="365760"/>
          </a:xfrm>
          <a:prstGeom prst="rect">
            <a:avLst/>
          </a:prstGeom>
          <a:noFill/>
          <a:ln/>
        </p:spPr>
        <p:txBody>
          <a:bodyPr wrap="square" lIns="0" tIns="0" rIns="0" bIns="0" rtlCol="0" anchor="ctr"/>
          <a:lstStyle/>
          <a:p>
            <a:pPr indent="0" marL="0">
              <a:buNone/>
            </a:pPr>
            <a:r>
              <a:rPr lang="en-US" sz="1400" i="1" dirty="0">
                <a:solidFill>
                  <a:schemeClr val="tx2"/>
                </a:solidFill>
              </a:rPr>
              <a:t>Any approved restaurant</a:t>
            </a:r>
            <a:endParaRPr lang="en-US" sz="1400" dirty="0"/>
          </a:p>
        </p:txBody>
      </p:sp>
      <p:sp>
        <p:nvSpPr>
          <p:cNvPr id="13" name="Monthly points"/>
          <p:cNvSpPr txBox="1"/>
          <p:nvPr/>
        </p:nvSpPr>
        <p:spPr>
          <a:xfrm>
            <a:off x="4617720" y="4069080"/>
            <a:ext cx="2926080" cy="13716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Charged monthly in advance</a:t>
            </a:r>
            <a:endParaRPr lang="en-US" sz="1400" dirty="0"/>
          </a:p>
          <a:p>
            <a:pPr marL="203200" indent="-203200">
              <a:spcAft>
                <a:spcPts val="600"/>
              </a:spcAft>
              <a:buSzPct val="100000"/>
              <a:buChar char="•"/>
            </a:pPr>
            <a:r>
              <a:rPr lang="en-US" sz="1400" dirty="0">
                <a:solidFill>
                  <a:schemeClr val="tx1"/>
                </a:solidFill>
              </a:rPr>
              <a:t>Turn off auto-renewal any time</a:t>
            </a:r>
            <a:endParaRPr lang="en-US" sz="1400" dirty="0"/>
          </a:p>
          <a:p>
            <a:pPr marL="203200" indent="-203200">
              <a:spcAft>
                <a:spcPts val="600"/>
              </a:spcAft>
              <a:buSzPct val="100000"/>
              <a:buChar char="•"/>
            </a:pPr>
            <a:r>
              <a:rPr lang="en-US" sz="1400" dirty="0">
                <a:solidFill>
                  <a:schemeClr val="tx1"/>
                </a:solidFill>
              </a:rPr>
              <a:t>Every feature included</a:t>
            </a:r>
            <a:endParaRPr lang="en-US" sz="1400" dirty="0"/>
          </a:p>
        </p:txBody>
      </p:sp>
      <p:sp>
        <p:nvSpPr>
          <p:cNvPr id="14" name="Annual card"/>
          <p:cNvSpPr/>
          <p:nvPr/>
        </p:nvSpPr>
        <p:spPr>
          <a:xfrm>
            <a:off x="8046720" y="1508760"/>
            <a:ext cx="3474720" cy="3840480"/>
          </a:xfrm>
          <a:prstGeom prst="roundRect">
            <a:avLst>
              <a:gd name="adj" fmla="val 3947"/>
            </a:avLst>
          </a:prstGeom>
          <a:solidFill>
            <a:schemeClr val="bg1"/>
          </a:solidFill>
          <a:ln/>
          <a:effectLst>
            <a:outerShdw sx="100000" sy="100000" kx="0" ky="0" algn="bl" rotWithShape="0" blurRad="127000" dist="38100" dir="5400000">
              <a:srgbClr val="000000">
                <a:alpha val="18000"/>
              </a:srgbClr>
            </a:outerShdw>
          </a:effectLst>
        </p:spPr>
      </p:sp>
      <p:sp>
        <p:nvSpPr>
          <p:cNvPr id="15" name="Annual name"/>
          <p:cNvSpPr txBox="1"/>
          <p:nvPr/>
        </p:nvSpPr>
        <p:spPr>
          <a:xfrm>
            <a:off x="8366760" y="2240280"/>
            <a:ext cx="2834640" cy="411480"/>
          </a:xfrm>
          <a:prstGeom prst="rect">
            <a:avLst/>
          </a:prstGeom>
          <a:noFill/>
          <a:ln/>
        </p:spPr>
        <p:txBody>
          <a:bodyPr wrap="square" lIns="0" tIns="0" rIns="0" bIns="0" rtlCol="0" anchor="ctr"/>
          <a:lstStyle/>
          <a:p>
            <a:pPr indent="0" marL="0">
              <a:buNone/>
            </a:pPr>
            <a:r>
              <a:rPr lang="en-US" sz="2000" b="1" dirty="0">
                <a:solidFill>
                  <a:schemeClr val="tx1"/>
                </a:solidFill>
              </a:rPr>
              <a:t>Annual</a:t>
            </a:r>
            <a:endParaRPr lang="en-US" sz="2000" dirty="0"/>
          </a:p>
        </p:txBody>
      </p:sp>
      <p:sp>
        <p:nvSpPr>
          <p:cNvPr id="16" name="Annual price"/>
          <p:cNvSpPr txBox="1"/>
          <p:nvPr/>
        </p:nvSpPr>
        <p:spPr>
          <a:xfrm>
            <a:off x="8366760" y="2697480"/>
            <a:ext cx="3017520" cy="868680"/>
          </a:xfrm>
          <a:prstGeom prst="rect">
            <a:avLst/>
          </a:prstGeom>
          <a:noFill/>
          <a:ln/>
        </p:spPr>
        <p:txBody>
          <a:bodyPr wrap="square" lIns="0" tIns="0" rIns="0" bIns="0" rtlCol="0" anchor="ctr"/>
          <a:lstStyle/>
          <a:p>
            <a:pPr indent="0" marL="0">
              <a:buNone/>
            </a:pPr>
            <a:r>
              <a:rPr lang="en-US" sz="5400" b="1" dirty="0">
                <a:solidFill>
                  <a:schemeClr val="accent1"/>
                </a:solidFill>
              </a:rPr>
              <a:t>$150</a:t>
            </a:r>
            <a:pPr indent="0" marL="0">
              <a:buNone/>
            </a:pPr>
            <a:r>
              <a:rPr lang="en-US" sz="1600" dirty="0">
                <a:solidFill>
                  <a:schemeClr val="tx2"/>
                </a:solidFill>
              </a:rPr>
              <a:t>  per year</a:t>
            </a:r>
            <a:endParaRPr lang="en-US" sz="5400" dirty="0"/>
          </a:p>
        </p:txBody>
      </p:sp>
      <p:sp>
        <p:nvSpPr>
          <p:cNvPr id="17" name="Annual audience"/>
          <p:cNvSpPr txBox="1"/>
          <p:nvPr/>
        </p:nvSpPr>
        <p:spPr>
          <a:xfrm>
            <a:off x="8366760" y="3611880"/>
            <a:ext cx="2926080" cy="365760"/>
          </a:xfrm>
          <a:prstGeom prst="rect">
            <a:avLst/>
          </a:prstGeom>
          <a:noFill/>
          <a:ln/>
        </p:spPr>
        <p:txBody>
          <a:bodyPr wrap="square" lIns="0" tIns="0" rIns="0" bIns="0" rtlCol="0" anchor="ctr"/>
          <a:lstStyle/>
          <a:p>
            <a:pPr indent="0" marL="0">
              <a:buNone/>
            </a:pPr>
            <a:r>
              <a:rPr lang="en-US" sz="1400" i="1" dirty="0">
                <a:solidFill>
                  <a:schemeClr val="tx2"/>
                </a:solidFill>
              </a:rPr>
              <a:t>Any approved restaurant</a:t>
            </a:r>
            <a:endParaRPr lang="en-US" sz="1400" dirty="0"/>
          </a:p>
        </p:txBody>
      </p:sp>
      <p:sp>
        <p:nvSpPr>
          <p:cNvPr id="18" name="Annual points"/>
          <p:cNvSpPr txBox="1"/>
          <p:nvPr/>
        </p:nvSpPr>
        <p:spPr>
          <a:xfrm>
            <a:off x="8366760" y="4069080"/>
            <a:ext cx="2926080" cy="13716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Save $30 a year ($12.50/month)</a:t>
            </a:r>
            <a:endParaRPr lang="en-US" sz="1400" dirty="0"/>
          </a:p>
          <a:p>
            <a:pPr marL="203200" indent="-203200">
              <a:spcAft>
                <a:spcPts val="600"/>
              </a:spcAft>
              <a:buSzPct val="100000"/>
              <a:buChar char="•"/>
            </a:pPr>
            <a:r>
              <a:rPr lang="en-US" sz="1400" dirty="0">
                <a:solidFill>
                  <a:schemeClr val="tx1"/>
                </a:solidFill>
              </a:rPr>
              <a:t>Reminder a week before renewal</a:t>
            </a:r>
            <a:endParaRPr lang="en-US" sz="1400" dirty="0"/>
          </a:p>
          <a:p>
            <a:pPr marL="203200" indent="-203200">
              <a:spcAft>
                <a:spcPts val="600"/>
              </a:spcAft>
              <a:buSzPct val="100000"/>
              <a:buChar char="•"/>
            </a:pPr>
            <a:r>
              <a:rPr lang="en-US" sz="1400" dirty="0">
                <a:solidFill>
                  <a:schemeClr val="tx1"/>
                </a:solidFill>
              </a:rPr>
              <a:t>Every feature included</a:t>
            </a:r>
            <a:endParaRPr lang="en-US" sz="1400" dirty="0"/>
          </a:p>
        </p:txBody>
      </p:sp>
      <p:sp>
        <p:nvSpPr>
          <p:cNvPr id="19" name="Pricing footnote"/>
          <p:cNvSpPr txBox="1"/>
          <p:nvPr/>
        </p:nvSpPr>
        <p:spPr>
          <a:xfrm>
            <a:off x="548640" y="5577840"/>
            <a:ext cx="9784080" cy="594360"/>
          </a:xfrm>
          <a:prstGeom prst="rect">
            <a:avLst/>
          </a:prstGeom>
          <a:noFill/>
          <a:ln/>
        </p:spPr>
        <p:txBody>
          <a:bodyPr wrap="square" lIns="0" tIns="0" rIns="0" bIns="0" rtlCol="0" anchor="t"/>
          <a:lstStyle/>
          <a:p>
            <a:pPr indent="0" marL="0">
              <a:buNone/>
            </a:pPr>
            <a:r>
              <a:rPr lang="en-US" sz="1100" dirty="0">
                <a:solidFill>
                  <a:schemeClr val="tx2"/>
                </a:solidFill>
              </a:rPr>
              <a:t>You receive the full discounted price of every meal you sell, plus its sales tax. Customers pay a separate Bite Wise service fee on top. Bite Wise promotional coupons may reduce the food price as set out in the Restaurant Partner Agreement. Plans are billed in US or Canadian dollars.</a:t>
            </a:r>
            <a:endParaRPr lang="en-US" sz="11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Five meals a day can add up to about $1,200 a month</a:t>
            </a:r>
            <a:endParaRPr lang="en-US" sz="3600" dirty="0"/>
          </a:p>
        </p:txBody>
      </p:sp>
      <p:sp>
        <p:nvSpPr>
          <p:cNvPr id="3" name="Subtitle"/>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800" dirty="0">
                <a:solidFill>
                  <a:schemeClr val="tx2"/>
                </a:solidFill>
              </a:rPr>
              <a:t>An illustrative example. Your numbers will differ.</a:t>
            </a:r>
            <a:endParaRPr lang="en-US" sz="1800" dirty="0"/>
          </a:p>
        </p:txBody>
      </p:sp>
      <p:sp>
        <p:nvSpPr>
          <p:cNvPr id="4" name="Assumption 1 value"/>
          <p:cNvSpPr txBox="1"/>
          <p:nvPr/>
        </p:nvSpPr>
        <p:spPr>
          <a:xfrm>
            <a:off x="548640" y="1874520"/>
            <a:ext cx="1554480" cy="914400"/>
          </a:xfrm>
          <a:prstGeom prst="rect">
            <a:avLst/>
          </a:prstGeom>
          <a:noFill/>
          <a:ln/>
        </p:spPr>
        <p:txBody>
          <a:bodyPr wrap="square" lIns="0" tIns="0" rIns="0" bIns="0" rtlCol="0" anchor="ctr"/>
          <a:lstStyle/>
          <a:p>
            <a:pPr indent="0" marL="0">
              <a:buNone/>
            </a:pPr>
            <a:r>
              <a:rPr lang="en-US" sz="5400" b="1" dirty="0">
                <a:solidFill>
                  <a:schemeClr val="accent1"/>
                </a:solidFill>
              </a:rPr>
              <a:t>5</a:t>
            </a:r>
            <a:endParaRPr lang="en-US" sz="5400" dirty="0"/>
          </a:p>
        </p:txBody>
      </p:sp>
      <p:sp>
        <p:nvSpPr>
          <p:cNvPr id="5" name="Assumption 1 label"/>
          <p:cNvSpPr txBox="1"/>
          <p:nvPr/>
        </p:nvSpPr>
        <p:spPr>
          <a:xfrm>
            <a:off x="2194560" y="1874520"/>
            <a:ext cx="3108960" cy="914400"/>
          </a:xfrm>
          <a:prstGeom prst="rect">
            <a:avLst/>
          </a:prstGeom>
          <a:noFill/>
          <a:ln/>
        </p:spPr>
        <p:txBody>
          <a:bodyPr wrap="square" lIns="0" tIns="0" rIns="0" bIns="0" rtlCol="0" anchor="ctr"/>
          <a:lstStyle/>
          <a:p>
            <a:pPr indent="0" marL="0">
              <a:buNone/>
            </a:pPr>
            <a:r>
              <a:rPr lang="en-US" sz="1800" dirty="0">
                <a:solidFill>
                  <a:schemeClr val="tx2"/>
                </a:solidFill>
              </a:rPr>
              <a:t>surplus meals sold per day</a:t>
            </a:r>
            <a:endParaRPr lang="en-US" sz="1800" dirty="0"/>
          </a:p>
        </p:txBody>
      </p:sp>
      <p:sp>
        <p:nvSpPr>
          <p:cNvPr id="6" name="Assumption 2 value"/>
          <p:cNvSpPr txBox="1"/>
          <p:nvPr/>
        </p:nvSpPr>
        <p:spPr>
          <a:xfrm>
            <a:off x="548640" y="3108960"/>
            <a:ext cx="1554480" cy="914400"/>
          </a:xfrm>
          <a:prstGeom prst="rect">
            <a:avLst/>
          </a:prstGeom>
          <a:noFill/>
          <a:ln/>
        </p:spPr>
        <p:txBody>
          <a:bodyPr wrap="square" lIns="0" tIns="0" rIns="0" bIns="0" rtlCol="0" anchor="ctr"/>
          <a:lstStyle/>
          <a:p>
            <a:pPr indent="0" marL="0">
              <a:buNone/>
            </a:pPr>
            <a:r>
              <a:rPr lang="en-US" sz="5400" b="1" dirty="0">
                <a:solidFill>
                  <a:schemeClr val="accent1"/>
                </a:solidFill>
              </a:rPr>
              <a:t>$8</a:t>
            </a:r>
            <a:endParaRPr lang="en-US" sz="5400" dirty="0"/>
          </a:p>
        </p:txBody>
      </p:sp>
      <p:sp>
        <p:nvSpPr>
          <p:cNvPr id="7" name="Assumption 2 label"/>
          <p:cNvSpPr txBox="1"/>
          <p:nvPr/>
        </p:nvSpPr>
        <p:spPr>
          <a:xfrm>
            <a:off x="2194560" y="3108960"/>
            <a:ext cx="3108960" cy="914400"/>
          </a:xfrm>
          <a:prstGeom prst="rect">
            <a:avLst/>
          </a:prstGeom>
          <a:noFill/>
          <a:ln/>
        </p:spPr>
        <p:txBody>
          <a:bodyPr wrap="square" lIns="0" tIns="0" rIns="0" bIns="0" rtlCol="0" anchor="ctr"/>
          <a:lstStyle/>
          <a:p>
            <a:pPr indent="0" marL="0">
              <a:buNone/>
            </a:pPr>
            <a:r>
              <a:rPr lang="en-US" sz="1800" dirty="0">
                <a:solidFill>
                  <a:schemeClr val="tx2"/>
                </a:solidFill>
              </a:rPr>
              <a:t>average discounted price</a:t>
            </a:r>
            <a:endParaRPr lang="en-US" sz="1800" dirty="0"/>
          </a:p>
        </p:txBody>
      </p:sp>
      <p:sp>
        <p:nvSpPr>
          <p:cNvPr id="8" name="Assumption 3 value"/>
          <p:cNvSpPr txBox="1"/>
          <p:nvPr/>
        </p:nvSpPr>
        <p:spPr>
          <a:xfrm>
            <a:off x="548640" y="4343400"/>
            <a:ext cx="1554480" cy="914400"/>
          </a:xfrm>
          <a:prstGeom prst="rect">
            <a:avLst/>
          </a:prstGeom>
          <a:noFill/>
          <a:ln/>
        </p:spPr>
        <p:txBody>
          <a:bodyPr wrap="square" lIns="0" tIns="0" rIns="0" bIns="0" rtlCol="0" anchor="ctr"/>
          <a:lstStyle/>
          <a:p>
            <a:pPr indent="0" marL="0">
              <a:buNone/>
            </a:pPr>
            <a:r>
              <a:rPr lang="en-US" sz="5400" b="1" dirty="0">
                <a:solidFill>
                  <a:schemeClr val="accent1"/>
                </a:solidFill>
              </a:rPr>
              <a:t>30</a:t>
            </a:r>
            <a:endParaRPr lang="en-US" sz="5400" dirty="0"/>
          </a:p>
        </p:txBody>
      </p:sp>
      <p:sp>
        <p:nvSpPr>
          <p:cNvPr id="9" name="Assumption 3 label"/>
          <p:cNvSpPr txBox="1"/>
          <p:nvPr/>
        </p:nvSpPr>
        <p:spPr>
          <a:xfrm>
            <a:off x="2194560" y="4343400"/>
            <a:ext cx="3108960" cy="914400"/>
          </a:xfrm>
          <a:prstGeom prst="rect">
            <a:avLst/>
          </a:prstGeom>
          <a:noFill/>
          <a:ln/>
        </p:spPr>
        <p:txBody>
          <a:bodyPr wrap="square" lIns="0" tIns="0" rIns="0" bIns="0" rtlCol="0" anchor="ctr"/>
          <a:lstStyle/>
          <a:p>
            <a:pPr indent="0" marL="0">
              <a:buNone/>
            </a:pPr>
            <a:r>
              <a:rPr lang="en-US" sz="1800" dirty="0">
                <a:solidFill>
                  <a:schemeClr val="tx2"/>
                </a:solidFill>
              </a:rPr>
              <a:t>days open per month</a:t>
            </a:r>
            <a:endParaRPr lang="en-US" sz="1800" dirty="0"/>
          </a:p>
        </p:txBody>
      </p:sp>
      <p:graphicFrame>
        <p:nvGraphicFramePr>
          <p:cNvPr id="10" name="Revenue chart" descr=""/>
          <p:cNvGraphicFramePr/>
          <p:nvPr/>
        </p:nvGraphicFramePr>
        <p:xfrm>
          <a:off x="5760720" y="1737360"/>
          <a:ext cx="5852160" cy="4023360"/>
        </p:xfrm>
        <a:graphic xmlns:a="http://schemas.openxmlformats.org/drawingml/2006/main">
          <a:graphicData uri="http://schemas.openxmlformats.org/drawingml/2006/chart">
            <c:chart xmlns:c="http://schemas.openxmlformats.org/drawingml/2006/chart" r:id="rId1"/>
          </a:graphicData>
        </a:graphic>
      </p:graphicFrame>
      <p:sp>
        <p:nvSpPr>
          <p:cNvPr id="11" name="Illustration note"/>
          <p:cNvSpPr txBox="1"/>
          <p:nvPr/>
        </p:nvSpPr>
        <p:spPr>
          <a:xfrm>
            <a:off x="548640" y="5623560"/>
            <a:ext cx="4937760" cy="548640"/>
          </a:xfrm>
          <a:prstGeom prst="rect">
            <a:avLst/>
          </a:prstGeom>
          <a:noFill/>
          <a:ln/>
        </p:spPr>
        <p:txBody>
          <a:bodyPr wrap="square" lIns="0" tIns="0" rIns="0" bIns="0" rtlCol="0" anchor="t"/>
          <a:lstStyle/>
          <a:p>
            <a:pPr indent="0" marL="0">
              <a:buNone/>
            </a:pPr>
            <a:r>
              <a:rPr lang="en-US" sz="1100" i="1" dirty="0">
                <a:solidFill>
                  <a:schemeClr val="tx2"/>
                </a:solidFill>
              </a:rPr>
              <a:t>Pioneer Members pay $0, so every dollar is recovered revenue. Figures are for illustration only, not a forecast or guarantee of sales.</a:t>
            </a:r>
            <a:endParaRPr lang="en-US" sz="11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1064240" cy="777240"/>
          </a:xfrm>
          <a:prstGeom prst="rect">
            <a:avLst/>
          </a:prstGeom>
          <a:noFill/>
          <a:ln/>
        </p:spPr>
        <p:txBody>
          <a:bodyPr wrap="square" lIns="0" tIns="0" rIns="0" bIns="0" rtlCol="0" anchor="t"/>
          <a:lstStyle/>
          <a:p>
            <a:pPr algn="l" indent="0" marL="0">
              <a:buNone/>
            </a:pPr>
            <a:r>
              <a:rPr lang="en-US" sz="3600" b="1" dirty="0">
                <a:solidFill>
                  <a:schemeClr val="tx1"/>
                </a:solidFill>
              </a:rPr>
              <a:t>Built so you never lose out on an order</a:t>
            </a:r>
            <a:endParaRPr lang="en-US" sz="3600" dirty="0"/>
          </a:p>
        </p:txBody>
      </p:sp>
      <p:sp>
        <p:nvSpPr>
          <p:cNvPr id="3" name="Trust 1 card"/>
          <p:cNvSpPr/>
          <p:nvPr/>
        </p:nvSpPr>
        <p:spPr>
          <a:xfrm>
            <a:off x="548640" y="1508760"/>
            <a:ext cx="3474720" cy="1965960"/>
          </a:xfrm>
          <a:prstGeom prst="roundRect">
            <a:avLst>
              <a:gd name="adj" fmla="val 6977"/>
            </a:avLst>
          </a:prstGeom>
          <a:solidFill>
            <a:schemeClr val="bg1"/>
          </a:solidFill>
          <a:ln/>
          <a:effectLst>
            <a:outerShdw sx="100000" sy="100000" kx="0" ky="0" algn="bl" rotWithShape="0" blurRad="127000" dist="38100" dir="5400000">
              <a:srgbClr val="000000">
                <a:alpha val="18000"/>
              </a:srgbClr>
            </a:outerShdw>
          </a:effectLst>
        </p:spPr>
      </p:sp>
      <p:sp>
        <p:nvSpPr>
          <p:cNvPr id="4" name="Trust 1 circle"/>
          <p:cNvSpPr/>
          <p:nvPr/>
        </p:nvSpPr>
        <p:spPr>
          <a:xfrm>
            <a:off x="822960" y="1783080"/>
            <a:ext cx="640080" cy="640080"/>
          </a:xfrm>
          <a:prstGeom prst="ellipse">
            <a:avLst/>
          </a:prstGeom>
          <a:solidFill>
            <a:schemeClr val="accent3"/>
          </a:solidFill>
          <a:ln/>
        </p:spPr>
      </p:sp>
      <p:pic>
        <p:nvPicPr>
          <p:cNvPr id="5" name="Trust 1 icon" descr="preencoded.png">    </p:cNvPr>
          <p:cNvPicPr>
            <a:picLocks noChangeAspect="1"/>
          </p:cNvPicPr>
          <p:nvPr/>
        </p:nvPicPr>
        <p:blipFill>
          <a:blip r:embed="rId1"/>
          <a:stretch>
            <a:fillRect/>
          </a:stretch>
        </p:blipFill>
        <p:spPr>
          <a:xfrm>
            <a:off x="982980" y="1943100"/>
            <a:ext cx="320040" cy="320040"/>
          </a:xfrm>
          <a:prstGeom prst="rect">
            <a:avLst/>
          </a:prstGeom>
        </p:spPr>
      </p:pic>
      <p:sp>
        <p:nvSpPr>
          <p:cNvPr id="6" name="Trust 1 title"/>
          <p:cNvSpPr txBox="1"/>
          <p:nvPr/>
        </p:nvSpPr>
        <p:spPr>
          <a:xfrm>
            <a:off x="1600200" y="178308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Card hold, then charge</a:t>
            </a:r>
            <a:endParaRPr lang="en-US" sz="1800" dirty="0"/>
          </a:p>
        </p:txBody>
      </p:sp>
      <p:sp>
        <p:nvSpPr>
          <p:cNvPr id="7" name="Trust 1 text"/>
          <p:cNvSpPr txBox="1"/>
          <p:nvPr/>
        </p:nvSpPr>
        <p:spPr>
          <a:xfrm>
            <a:off x="822960" y="2514600"/>
            <a:ext cx="2971800" cy="868680"/>
          </a:xfrm>
          <a:prstGeom prst="rect">
            <a:avLst/>
          </a:prstGeom>
          <a:noFill/>
          <a:ln/>
        </p:spPr>
        <p:txBody>
          <a:bodyPr wrap="square" lIns="0" tIns="0" rIns="0" bIns="0" rtlCol="0" anchor="t"/>
          <a:lstStyle/>
          <a:p>
            <a:pPr indent="0" marL="0">
              <a:buNone/>
            </a:pPr>
            <a:r>
              <a:rPr lang="en-US" sz="1400" dirty="0">
                <a:solidFill>
                  <a:schemeClr val="tx2"/>
                </a:solidFill>
              </a:rPr>
              <a:t>The card is held when the customer orders and charged at pickup.</a:t>
            </a:r>
            <a:endParaRPr lang="en-US" sz="1400" dirty="0"/>
          </a:p>
        </p:txBody>
      </p:sp>
      <p:sp>
        <p:nvSpPr>
          <p:cNvPr id="8" name="Trust 2 card"/>
          <p:cNvSpPr/>
          <p:nvPr/>
        </p:nvSpPr>
        <p:spPr>
          <a:xfrm>
            <a:off x="4297680" y="1508760"/>
            <a:ext cx="3474720" cy="1965960"/>
          </a:xfrm>
          <a:prstGeom prst="roundRect">
            <a:avLst>
              <a:gd name="adj" fmla="val 6977"/>
            </a:avLst>
          </a:prstGeom>
          <a:solidFill>
            <a:schemeClr val="bg1"/>
          </a:solidFill>
          <a:ln/>
          <a:effectLst>
            <a:outerShdw sx="100000" sy="100000" kx="0" ky="0" algn="bl" rotWithShape="0" blurRad="127000" dist="38100" dir="5400000">
              <a:srgbClr val="000000">
                <a:alpha val="18000"/>
              </a:srgbClr>
            </a:outerShdw>
          </a:effectLst>
        </p:spPr>
      </p:sp>
      <p:sp>
        <p:nvSpPr>
          <p:cNvPr id="9" name="Trust 2 circle"/>
          <p:cNvSpPr/>
          <p:nvPr/>
        </p:nvSpPr>
        <p:spPr>
          <a:xfrm>
            <a:off x="4572000" y="1783080"/>
            <a:ext cx="640080" cy="640080"/>
          </a:xfrm>
          <a:prstGeom prst="ellipse">
            <a:avLst/>
          </a:prstGeom>
          <a:solidFill>
            <a:schemeClr val="accent3"/>
          </a:solidFill>
          <a:ln/>
        </p:spPr>
      </p:sp>
      <p:pic>
        <p:nvPicPr>
          <p:cNvPr id="10" name="Trust 2 icon" descr="preencoded.png">    </p:cNvPr>
          <p:cNvPicPr>
            <a:picLocks noChangeAspect="1"/>
          </p:cNvPicPr>
          <p:nvPr/>
        </p:nvPicPr>
        <p:blipFill>
          <a:blip r:embed="rId2"/>
          <a:stretch>
            <a:fillRect/>
          </a:stretch>
        </p:blipFill>
        <p:spPr>
          <a:xfrm>
            <a:off x="4732020" y="1943100"/>
            <a:ext cx="320040" cy="320040"/>
          </a:xfrm>
          <a:prstGeom prst="rect">
            <a:avLst/>
          </a:prstGeom>
        </p:spPr>
      </p:pic>
      <p:sp>
        <p:nvSpPr>
          <p:cNvPr id="11" name="Trust 2 title"/>
          <p:cNvSpPr txBox="1"/>
          <p:nvPr/>
        </p:nvSpPr>
        <p:spPr>
          <a:xfrm>
            <a:off x="5349240" y="178308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Pickup PIN</a:t>
            </a:r>
            <a:endParaRPr lang="en-US" sz="1800" dirty="0"/>
          </a:p>
        </p:txBody>
      </p:sp>
      <p:sp>
        <p:nvSpPr>
          <p:cNvPr id="12" name="Trust 2 text"/>
          <p:cNvSpPr txBox="1"/>
          <p:nvPr/>
        </p:nvSpPr>
        <p:spPr>
          <a:xfrm>
            <a:off x="4572000" y="2514600"/>
            <a:ext cx="2971800" cy="868680"/>
          </a:xfrm>
          <a:prstGeom prst="rect">
            <a:avLst/>
          </a:prstGeom>
          <a:noFill/>
          <a:ln/>
        </p:spPr>
        <p:txBody>
          <a:bodyPr wrap="square" lIns="0" tIns="0" rIns="0" bIns="0" rtlCol="0" anchor="t"/>
          <a:lstStyle/>
          <a:p>
            <a:pPr indent="0" marL="0">
              <a:buNone/>
            </a:pPr>
            <a:r>
              <a:rPr lang="en-US" sz="1400" dirty="0">
                <a:solidFill>
                  <a:schemeClr val="tx2"/>
                </a:solidFill>
              </a:rPr>
              <a:t>Every order has its own 4-digit PIN, so the right food goes to the right person.</a:t>
            </a:r>
            <a:endParaRPr lang="en-US" sz="1400" dirty="0"/>
          </a:p>
        </p:txBody>
      </p:sp>
      <p:sp>
        <p:nvSpPr>
          <p:cNvPr id="13" name="Trust 3 card"/>
          <p:cNvSpPr/>
          <p:nvPr/>
        </p:nvSpPr>
        <p:spPr>
          <a:xfrm>
            <a:off x="8046720" y="1508760"/>
            <a:ext cx="3474720" cy="1965960"/>
          </a:xfrm>
          <a:prstGeom prst="roundRect">
            <a:avLst>
              <a:gd name="adj" fmla="val 6977"/>
            </a:avLst>
          </a:prstGeom>
          <a:solidFill>
            <a:schemeClr val="bg1"/>
          </a:solidFill>
          <a:ln/>
          <a:effectLst>
            <a:outerShdw sx="100000" sy="100000" kx="0" ky="0" algn="bl" rotWithShape="0" blurRad="127000" dist="38100" dir="5400000">
              <a:srgbClr val="000000">
                <a:alpha val="18000"/>
              </a:srgbClr>
            </a:outerShdw>
          </a:effectLst>
        </p:spPr>
      </p:sp>
      <p:sp>
        <p:nvSpPr>
          <p:cNvPr id="14" name="Trust 3 circle"/>
          <p:cNvSpPr/>
          <p:nvPr/>
        </p:nvSpPr>
        <p:spPr>
          <a:xfrm>
            <a:off x="8321040" y="1783080"/>
            <a:ext cx="640080" cy="640080"/>
          </a:xfrm>
          <a:prstGeom prst="ellipse">
            <a:avLst/>
          </a:prstGeom>
          <a:solidFill>
            <a:schemeClr val="accent3"/>
          </a:solidFill>
          <a:ln/>
        </p:spPr>
      </p:sp>
      <p:pic>
        <p:nvPicPr>
          <p:cNvPr id="15" name="Trust 3 icon" descr="preencoded.png">    </p:cNvPr>
          <p:cNvPicPr>
            <a:picLocks noChangeAspect="1"/>
          </p:cNvPicPr>
          <p:nvPr/>
        </p:nvPicPr>
        <p:blipFill>
          <a:blip r:embed="rId3"/>
          <a:stretch>
            <a:fillRect/>
          </a:stretch>
        </p:blipFill>
        <p:spPr>
          <a:xfrm>
            <a:off x="8481060" y="1943100"/>
            <a:ext cx="320040" cy="320040"/>
          </a:xfrm>
          <a:prstGeom prst="rect">
            <a:avLst/>
          </a:prstGeom>
        </p:spPr>
      </p:pic>
      <p:sp>
        <p:nvSpPr>
          <p:cNvPr id="16" name="Trust 3 title"/>
          <p:cNvSpPr txBox="1"/>
          <p:nvPr/>
        </p:nvSpPr>
        <p:spPr>
          <a:xfrm>
            <a:off x="9098280" y="178308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Real customers</a:t>
            </a:r>
            <a:endParaRPr lang="en-US" sz="1800" dirty="0"/>
          </a:p>
        </p:txBody>
      </p:sp>
      <p:sp>
        <p:nvSpPr>
          <p:cNvPr id="17" name="Trust 3 text"/>
          <p:cNvSpPr txBox="1"/>
          <p:nvPr/>
        </p:nvSpPr>
        <p:spPr>
          <a:xfrm>
            <a:off x="8321040" y="2514600"/>
            <a:ext cx="2971800" cy="868680"/>
          </a:xfrm>
          <a:prstGeom prst="rect">
            <a:avLst/>
          </a:prstGeom>
          <a:noFill/>
          <a:ln/>
        </p:spPr>
        <p:txBody>
          <a:bodyPr wrap="square" lIns="0" tIns="0" rIns="0" bIns="0" rtlCol="0" anchor="t"/>
          <a:lstStyle/>
          <a:p>
            <a:pPr indent="0" marL="0">
              <a:buNone/>
            </a:pPr>
            <a:r>
              <a:rPr lang="en-US" sz="1400" dirty="0">
                <a:solidFill>
                  <a:schemeClr val="tx2"/>
                </a:solidFill>
              </a:rPr>
              <a:t>Fake and throwaway emails are refused. Repeat no-shows are suspended, then banned.</a:t>
            </a:r>
            <a:endParaRPr lang="en-US" sz="1400" dirty="0"/>
          </a:p>
        </p:txBody>
      </p:sp>
      <p:sp>
        <p:nvSpPr>
          <p:cNvPr id="18" name="Trust 4 card"/>
          <p:cNvSpPr/>
          <p:nvPr/>
        </p:nvSpPr>
        <p:spPr>
          <a:xfrm>
            <a:off x="548640" y="3749040"/>
            <a:ext cx="3474720" cy="1965960"/>
          </a:xfrm>
          <a:prstGeom prst="roundRect">
            <a:avLst>
              <a:gd name="adj" fmla="val 6977"/>
            </a:avLst>
          </a:prstGeom>
          <a:solidFill>
            <a:schemeClr val="bg1"/>
          </a:solidFill>
          <a:ln/>
          <a:effectLst>
            <a:outerShdw sx="100000" sy="100000" kx="0" ky="0" algn="bl" rotWithShape="0" blurRad="127000" dist="38100" dir="5400000">
              <a:srgbClr val="000000">
                <a:alpha val="18000"/>
              </a:srgbClr>
            </a:outerShdw>
          </a:effectLst>
        </p:spPr>
      </p:sp>
      <p:sp>
        <p:nvSpPr>
          <p:cNvPr id="19" name="Trust 4 circle"/>
          <p:cNvSpPr/>
          <p:nvPr/>
        </p:nvSpPr>
        <p:spPr>
          <a:xfrm>
            <a:off x="822960" y="4023360"/>
            <a:ext cx="640080" cy="640080"/>
          </a:xfrm>
          <a:prstGeom prst="ellipse">
            <a:avLst/>
          </a:prstGeom>
          <a:solidFill>
            <a:schemeClr val="accent3"/>
          </a:solidFill>
          <a:ln/>
        </p:spPr>
      </p:sp>
      <p:pic>
        <p:nvPicPr>
          <p:cNvPr id="20" name="Trust 4 icon" descr="preencoded.png">    </p:cNvPr>
          <p:cNvPicPr>
            <a:picLocks noChangeAspect="1"/>
          </p:cNvPicPr>
          <p:nvPr/>
        </p:nvPicPr>
        <p:blipFill>
          <a:blip r:embed="rId4"/>
          <a:stretch>
            <a:fillRect/>
          </a:stretch>
        </p:blipFill>
        <p:spPr>
          <a:xfrm>
            <a:off x="982980" y="4183380"/>
            <a:ext cx="320040" cy="320040"/>
          </a:xfrm>
          <a:prstGeom prst="rect">
            <a:avLst/>
          </a:prstGeom>
        </p:spPr>
      </p:pic>
      <p:sp>
        <p:nvSpPr>
          <p:cNvPr id="21" name="Trust 4 title"/>
          <p:cNvSpPr txBox="1"/>
          <p:nvPr/>
        </p:nvSpPr>
        <p:spPr>
          <a:xfrm>
            <a:off x="1600200" y="402336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Taxes handled</a:t>
            </a:r>
            <a:endParaRPr lang="en-US" sz="1800" dirty="0"/>
          </a:p>
        </p:txBody>
      </p:sp>
      <p:sp>
        <p:nvSpPr>
          <p:cNvPr id="22" name="Trust 4 text"/>
          <p:cNvSpPr txBox="1"/>
          <p:nvPr/>
        </p:nvSpPr>
        <p:spPr>
          <a:xfrm>
            <a:off x="822960" y="4754880"/>
            <a:ext cx="2971800" cy="868680"/>
          </a:xfrm>
          <a:prstGeom prst="rect">
            <a:avLst/>
          </a:prstGeom>
          <a:noFill/>
          <a:ln/>
        </p:spPr>
        <p:txBody>
          <a:bodyPr wrap="square" lIns="0" tIns="0" rIns="0" bIns="0" rtlCol="0" anchor="t"/>
          <a:lstStyle/>
          <a:p>
            <a:pPr indent="0" marL="0">
              <a:buNone/>
            </a:pPr>
            <a:r>
              <a:rPr lang="en-US" sz="1400" dirty="0">
                <a:solidFill>
                  <a:schemeClr val="tx2"/>
                </a:solidFill>
              </a:rPr>
              <a:t>Sales tax is set from your address and shown on every receipt and report.</a:t>
            </a:r>
            <a:endParaRPr lang="en-US" sz="1400" dirty="0"/>
          </a:p>
        </p:txBody>
      </p:sp>
      <p:sp>
        <p:nvSpPr>
          <p:cNvPr id="23" name="Trust 5 card"/>
          <p:cNvSpPr/>
          <p:nvPr/>
        </p:nvSpPr>
        <p:spPr>
          <a:xfrm>
            <a:off x="4297680" y="3749040"/>
            <a:ext cx="3474720" cy="1965960"/>
          </a:xfrm>
          <a:prstGeom prst="roundRect">
            <a:avLst>
              <a:gd name="adj" fmla="val 6977"/>
            </a:avLst>
          </a:prstGeom>
          <a:solidFill>
            <a:schemeClr val="bg1"/>
          </a:solidFill>
          <a:ln/>
          <a:effectLst>
            <a:outerShdw sx="100000" sy="100000" kx="0" ky="0" algn="bl" rotWithShape="0" blurRad="127000" dist="38100" dir="5400000">
              <a:srgbClr val="000000">
                <a:alpha val="18000"/>
              </a:srgbClr>
            </a:outerShdw>
          </a:effectLst>
        </p:spPr>
      </p:sp>
      <p:sp>
        <p:nvSpPr>
          <p:cNvPr id="24" name="Trust 5 circle"/>
          <p:cNvSpPr/>
          <p:nvPr/>
        </p:nvSpPr>
        <p:spPr>
          <a:xfrm>
            <a:off x="4572000" y="4023360"/>
            <a:ext cx="640080" cy="640080"/>
          </a:xfrm>
          <a:prstGeom prst="ellipse">
            <a:avLst/>
          </a:prstGeom>
          <a:solidFill>
            <a:schemeClr val="accent3"/>
          </a:solidFill>
          <a:ln/>
        </p:spPr>
      </p:sp>
      <p:pic>
        <p:nvPicPr>
          <p:cNvPr id="25" name="Trust 5 icon" descr="preencoded.png">    </p:cNvPr>
          <p:cNvPicPr>
            <a:picLocks noChangeAspect="1"/>
          </p:cNvPicPr>
          <p:nvPr/>
        </p:nvPicPr>
        <p:blipFill>
          <a:blip r:embed="rId5"/>
          <a:stretch>
            <a:fillRect/>
          </a:stretch>
        </p:blipFill>
        <p:spPr>
          <a:xfrm>
            <a:off x="4732020" y="4183380"/>
            <a:ext cx="320040" cy="320040"/>
          </a:xfrm>
          <a:prstGeom prst="rect">
            <a:avLst/>
          </a:prstGeom>
        </p:spPr>
      </p:pic>
      <p:sp>
        <p:nvSpPr>
          <p:cNvPr id="26" name="Trust 5 title"/>
          <p:cNvSpPr txBox="1"/>
          <p:nvPr/>
        </p:nvSpPr>
        <p:spPr>
          <a:xfrm>
            <a:off x="5349240" y="402336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We handle support</a:t>
            </a:r>
            <a:endParaRPr lang="en-US" sz="1800" dirty="0"/>
          </a:p>
        </p:txBody>
      </p:sp>
      <p:sp>
        <p:nvSpPr>
          <p:cNvPr id="27" name="Trust 5 text"/>
          <p:cNvSpPr txBox="1"/>
          <p:nvPr/>
        </p:nvSpPr>
        <p:spPr>
          <a:xfrm>
            <a:off x="4572000" y="4754880"/>
            <a:ext cx="2971800" cy="868680"/>
          </a:xfrm>
          <a:prstGeom prst="rect">
            <a:avLst/>
          </a:prstGeom>
          <a:noFill/>
          <a:ln/>
        </p:spPr>
        <p:txBody>
          <a:bodyPr wrap="square" lIns="0" tIns="0" rIns="0" bIns="0" rtlCol="0" anchor="t"/>
          <a:lstStyle/>
          <a:p>
            <a:pPr indent="0" marL="0">
              <a:buNone/>
            </a:pPr>
            <a:r>
              <a:rPr lang="en-US" sz="1400" dirty="0">
                <a:solidFill>
                  <a:schemeClr val="tx2"/>
                </a:solidFill>
              </a:rPr>
              <a:t>Customer questions, refunds and credit are handled by Bite Wise.</a:t>
            </a:r>
            <a:endParaRPr lang="en-US" sz="1400" dirty="0"/>
          </a:p>
        </p:txBody>
      </p:sp>
      <p:sp>
        <p:nvSpPr>
          <p:cNvPr id="28" name="Trust 6 card"/>
          <p:cNvSpPr/>
          <p:nvPr/>
        </p:nvSpPr>
        <p:spPr>
          <a:xfrm>
            <a:off x="8046720" y="3749040"/>
            <a:ext cx="3474720" cy="1965960"/>
          </a:xfrm>
          <a:prstGeom prst="roundRect">
            <a:avLst>
              <a:gd name="adj" fmla="val 6977"/>
            </a:avLst>
          </a:prstGeom>
          <a:solidFill>
            <a:schemeClr val="bg1"/>
          </a:solidFill>
          <a:ln/>
          <a:effectLst>
            <a:outerShdw sx="100000" sy="100000" kx="0" ky="0" algn="bl" rotWithShape="0" blurRad="127000" dist="38100" dir="5400000">
              <a:srgbClr val="000000">
                <a:alpha val="18000"/>
              </a:srgbClr>
            </a:outerShdw>
          </a:effectLst>
        </p:spPr>
      </p:sp>
      <p:sp>
        <p:nvSpPr>
          <p:cNvPr id="29" name="Trust 6 circle"/>
          <p:cNvSpPr/>
          <p:nvPr/>
        </p:nvSpPr>
        <p:spPr>
          <a:xfrm>
            <a:off x="8321040" y="4023360"/>
            <a:ext cx="640080" cy="640080"/>
          </a:xfrm>
          <a:prstGeom prst="ellipse">
            <a:avLst/>
          </a:prstGeom>
          <a:solidFill>
            <a:schemeClr val="accent3"/>
          </a:solidFill>
          <a:ln/>
        </p:spPr>
      </p:sp>
      <p:pic>
        <p:nvPicPr>
          <p:cNvPr id="30" name="Trust 6 icon" descr="preencoded.png">    </p:cNvPr>
          <p:cNvPicPr>
            <a:picLocks noChangeAspect="1"/>
          </p:cNvPicPr>
          <p:nvPr/>
        </p:nvPicPr>
        <p:blipFill>
          <a:blip r:embed="rId6"/>
          <a:stretch>
            <a:fillRect/>
          </a:stretch>
        </p:blipFill>
        <p:spPr>
          <a:xfrm>
            <a:off x="8481060" y="4183380"/>
            <a:ext cx="320040" cy="320040"/>
          </a:xfrm>
          <a:prstGeom prst="rect">
            <a:avLst/>
          </a:prstGeom>
        </p:spPr>
      </p:pic>
      <p:sp>
        <p:nvSpPr>
          <p:cNvPr id="31" name="Trust 6 title"/>
          <p:cNvSpPr txBox="1"/>
          <p:nvPr/>
        </p:nvSpPr>
        <p:spPr>
          <a:xfrm>
            <a:off x="9098280" y="402336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US and Canada</a:t>
            </a:r>
            <a:endParaRPr lang="en-US" sz="1800" dirty="0"/>
          </a:p>
        </p:txBody>
      </p:sp>
      <p:sp>
        <p:nvSpPr>
          <p:cNvPr id="32" name="Trust 6 text"/>
          <p:cNvSpPr txBox="1"/>
          <p:nvPr/>
        </p:nvSpPr>
        <p:spPr>
          <a:xfrm>
            <a:off x="8321040" y="4754880"/>
            <a:ext cx="2971800" cy="868680"/>
          </a:xfrm>
          <a:prstGeom prst="rect">
            <a:avLst/>
          </a:prstGeom>
          <a:noFill/>
          <a:ln/>
        </p:spPr>
        <p:txBody>
          <a:bodyPr wrap="square" lIns="0" tIns="0" rIns="0" bIns="0" rtlCol="0" anchor="t"/>
          <a:lstStyle/>
          <a:p>
            <a:pPr indent="0" marL="0">
              <a:buNone/>
            </a:pPr>
            <a:r>
              <a:rPr lang="en-US" sz="1400" dirty="0">
                <a:solidFill>
                  <a:schemeClr val="tx2"/>
                </a:solidFill>
              </a:rPr>
              <a:t>Customers pay in US or Canadian dollars, by the restaurant's country.</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Logo" descr="preencoded.png">    </p:cNvPr>
          <p:cNvPicPr>
            <a:picLocks noChangeAspect="1"/>
          </p:cNvPicPr>
          <p:nvPr/>
        </p:nvPicPr>
        <p:blipFill>
          <a:blip r:embed="rId1"/>
          <a:stretch>
            <a:fillRect/>
          </a:stretch>
        </p:blipFill>
        <p:spPr>
          <a:xfrm>
            <a:off x="640080" y="548640"/>
            <a:ext cx="2377440" cy="667512"/>
          </a:xfrm>
          <a:prstGeom prst="rect">
            <a:avLst/>
          </a:prstGeom>
        </p:spPr>
      </p:pic>
      <p:sp>
        <p:nvSpPr>
          <p:cNvPr id="3" name="Closing headline"/>
          <p:cNvSpPr txBox="1"/>
          <p:nvPr/>
        </p:nvSpPr>
        <p:spPr>
          <a:xfrm>
            <a:off x="640080" y="1600200"/>
            <a:ext cx="5486400" cy="822960"/>
          </a:xfrm>
          <a:prstGeom prst="rect">
            <a:avLst/>
          </a:prstGeom>
          <a:noFill/>
          <a:ln/>
        </p:spPr>
        <p:txBody>
          <a:bodyPr wrap="square" lIns="0" tIns="0" rIns="0" bIns="0" rtlCol="0" anchor="ctr"/>
          <a:lstStyle/>
          <a:p>
            <a:pPr indent="0" marL="0">
              <a:buNone/>
            </a:pPr>
            <a:r>
              <a:rPr lang="en-US" sz="4400" b="1" dirty="0">
                <a:solidFill>
                  <a:schemeClr val="bg1"/>
                </a:solidFill>
              </a:rPr>
              <a:t>Start selling this week</a:t>
            </a:r>
            <a:endParaRPr lang="en-US" sz="4400" dirty="0"/>
          </a:p>
        </p:txBody>
      </p:sp>
      <p:sp>
        <p:nvSpPr>
          <p:cNvPr id="4" name="Next 1 number"/>
          <p:cNvSpPr txBox="1"/>
          <p:nvPr/>
        </p:nvSpPr>
        <p:spPr>
          <a:xfrm>
            <a:off x="640080" y="269748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Next 1 text"/>
          <p:cNvSpPr txBox="1"/>
          <p:nvPr/>
        </p:nvSpPr>
        <p:spPr>
          <a:xfrm>
            <a:off x="1371600" y="2624328"/>
            <a:ext cx="4937760" cy="777240"/>
          </a:xfrm>
          <a:prstGeom prst="rect">
            <a:avLst/>
          </a:prstGeom>
          <a:noFill/>
          <a:ln/>
        </p:spPr>
        <p:txBody>
          <a:bodyPr wrap="square" lIns="0" tIns="0" rIns="0" bIns="0" rtlCol="0" anchor="t"/>
          <a:lstStyle/>
          <a:p>
            <a:pPr indent="0" marL="0">
              <a:buNone/>
            </a:pPr>
            <a:r>
              <a:rPr lang="en-US" sz="1800" b="1" dirty="0">
                <a:solidFill>
                  <a:schemeClr val="bg1"/>
                </a:solidFill>
              </a:rPr>
              <a:t>Sign up online</a:t>
            </a:r>
            <a:endParaRPr lang="en-US" sz="1800" dirty="0"/>
          </a:p>
          <a:p>
            <a:pPr indent="0" marL="0">
              <a:buNone/>
            </a:pPr>
            <a:r>
              <a:rPr lang="en-US" sz="1400" dirty="0">
                <a:solidFill>
                  <a:schemeClr val="bg2"/>
                </a:solidFill>
              </a:rPr>
              <a:t>Enter your restaurant details and accept the partner agreement. A few minutes.</a:t>
            </a:r>
            <a:endParaRPr lang="en-US" sz="1800" dirty="0"/>
          </a:p>
        </p:txBody>
      </p:sp>
      <p:sp>
        <p:nvSpPr>
          <p:cNvPr id="6" name="Next 2 number"/>
          <p:cNvSpPr txBox="1"/>
          <p:nvPr/>
        </p:nvSpPr>
        <p:spPr>
          <a:xfrm>
            <a:off x="640080" y="356616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Next 2 text"/>
          <p:cNvSpPr txBox="1"/>
          <p:nvPr/>
        </p:nvSpPr>
        <p:spPr>
          <a:xfrm>
            <a:off x="1371600" y="3493008"/>
            <a:ext cx="4937760" cy="777240"/>
          </a:xfrm>
          <a:prstGeom prst="rect">
            <a:avLst/>
          </a:prstGeom>
          <a:noFill/>
          <a:ln/>
        </p:spPr>
        <p:txBody>
          <a:bodyPr wrap="square" lIns="0" tIns="0" rIns="0" bIns="0" rtlCol="0" anchor="t"/>
          <a:lstStyle/>
          <a:p>
            <a:pPr indent="0" marL="0">
              <a:buNone/>
            </a:pPr>
            <a:r>
              <a:rPr lang="en-US" sz="1800" b="1" dirty="0">
                <a:solidFill>
                  <a:schemeClr val="bg1"/>
                </a:solidFill>
              </a:rPr>
              <a:t>Get approved</a:t>
            </a:r>
            <a:endParaRPr lang="en-US" sz="1800" dirty="0"/>
          </a:p>
          <a:p>
            <a:pPr indent="0" marL="0">
              <a:buNone/>
            </a:pPr>
            <a:r>
              <a:rPr lang="en-US" sz="1400" dirty="0">
                <a:solidFill>
                  <a:schemeClr val="bg2"/>
                </a:solidFill>
              </a:rPr>
              <a:t>Usually within one business day. Set up your menu meanwhile.</a:t>
            </a:r>
            <a:endParaRPr lang="en-US" sz="1800" dirty="0"/>
          </a:p>
        </p:txBody>
      </p:sp>
      <p:sp>
        <p:nvSpPr>
          <p:cNvPr id="8" name="Next 3 number"/>
          <p:cNvSpPr txBox="1"/>
          <p:nvPr/>
        </p:nvSpPr>
        <p:spPr>
          <a:xfrm>
            <a:off x="640080" y="443484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Next 3 text"/>
          <p:cNvSpPr txBox="1"/>
          <p:nvPr/>
        </p:nvSpPr>
        <p:spPr>
          <a:xfrm>
            <a:off x="1371600" y="4361688"/>
            <a:ext cx="4937760" cy="777240"/>
          </a:xfrm>
          <a:prstGeom prst="rect">
            <a:avLst/>
          </a:prstGeom>
          <a:noFill/>
          <a:ln/>
        </p:spPr>
        <p:txBody>
          <a:bodyPr wrap="square" lIns="0" tIns="0" rIns="0" bIns="0" rtlCol="0" anchor="t"/>
          <a:lstStyle/>
          <a:p>
            <a:pPr indent="0" marL="0">
              <a:buNone/>
            </a:pPr>
            <a:r>
              <a:rPr lang="en-US" sz="1800" b="1" dirty="0">
                <a:solidFill>
                  <a:schemeClr val="bg1"/>
                </a:solidFill>
              </a:rPr>
              <a:t>Connect payouts</a:t>
            </a:r>
            <a:endParaRPr lang="en-US" sz="1800" dirty="0"/>
          </a:p>
          <a:p>
            <a:pPr indent="0" marL="0">
              <a:buNone/>
            </a:pPr>
            <a:r>
              <a:rPr lang="en-US" sz="1400" dirty="0">
                <a:solidFill>
                  <a:schemeClr val="bg2"/>
                </a:solidFill>
              </a:rPr>
              <a:t>Link your bank account through Stripe, open the kiosk on a tablet.</a:t>
            </a:r>
            <a:endParaRPr lang="en-US" sz="1800" dirty="0"/>
          </a:p>
        </p:txBody>
      </p:sp>
      <p:sp>
        <p:nvSpPr>
          <p:cNvPr id="10" name="Next 4 number"/>
          <p:cNvSpPr txBox="1"/>
          <p:nvPr/>
        </p:nvSpPr>
        <p:spPr>
          <a:xfrm>
            <a:off x="640080" y="53035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1" name="Next 4 text"/>
          <p:cNvSpPr txBox="1"/>
          <p:nvPr/>
        </p:nvSpPr>
        <p:spPr>
          <a:xfrm>
            <a:off x="1371600" y="5230368"/>
            <a:ext cx="4937760" cy="777240"/>
          </a:xfrm>
          <a:prstGeom prst="rect">
            <a:avLst/>
          </a:prstGeom>
          <a:noFill/>
          <a:ln/>
        </p:spPr>
        <p:txBody>
          <a:bodyPr wrap="square" lIns="0" tIns="0" rIns="0" bIns="0" rtlCol="0" anchor="t"/>
          <a:lstStyle/>
          <a:p>
            <a:pPr indent="0" marL="0">
              <a:buNone/>
            </a:pPr>
            <a:r>
              <a:rPr lang="en-US" sz="1800" b="1" dirty="0">
                <a:solidFill>
                  <a:schemeClr val="bg1"/>
                </a:solidFill>
              </a:rPr>
              <a:t>Post your first dish</a:t>
            </a:r>
            <a:endParaRPr lang="en-US" sz="1800" dirty="0"/>
          </a:p>
          <a:p>
            <a:pPr indent="0" marL="0">
              <a:buNone/>
            </a:pPr>
            <a:r>
              <a:rPr lang="en-US" sz="1400" dirty="0">
                <a:solidFill>
                  <a:schemeClr val="bg2"/>
                </a:solidFill>
              </a:rPr>
              <a:t>And listen for the bell.</a:t>
            </a:r>
            <a:endParaRPr lang="en-US" sz="1800" dirty="0"/>
          </a:p>
        </p:txBody>
      </p:sp>
      <p:sp>
        <p:nvSpPr>
          <p:cNvPr id="12" name="Offer card"/>
          <p:cNvSpPr/>
          <p:nvPr/>
        </p:nvSpPr>
        <p:spPr>
          <a:xfrm>
            <a:off x="6949440" y="1600200"/>
            <a:ext cx="4663440" cy="4206240"/>
          </a:xfrm>
          <a:prstGeom prst="roundRect">
            <a:avLst>
              <a:gd name="adj" fmla="val 4348"/>
            </a:avLst>
          </a:prstGeom>
          <a:solidFill>
            <a:schemeClr val="accent6"/>
          </a:solidFill>
          <a:ln/>
        </p:spPr>
      </p:sp>
      <p:sp>
        <p:nvSpPr>
          <p:cNvPr id="13" name="Offer circle"/>
          <p:cNvSpPr/>
          <p:nvPr/>
        </p:nvSpPr>
        <p:spPr>
          <a:xfrm>
            <a:off x="7315200" y="1965960"/>
            <a:ext cx="914400" cy="914400"/>
          </a:xfrm>
          <a:prstGeom prst="ellipse">
            <a:avLst/>
          </a:prstGeom>
          <a:solidFill>
            <a:schemeClr val="accent2"/>
          </a:solidFill>
          <a:ln/>
        </p:spPr>
      </p:sp>
      <p:pic>
        <p:nvPicPr>
          <p:cNvPr id="14" name="Offer icon" descr="preencoded.png">    </p:cNvPr>
          <p:cNvPicPr>
            <a:picLocks noChangeAspect="1"/>
          </p:cNvPicPr>
          <p:nvPr/>
        </p:nvPicPr>
        <p:blipFill>
          <a:blip r:embed="rId2"/>
          <a:stretch>
            <a:fillRect/>
          </a:stretch>
        </p:blipFill>
        <p:spPr>
          <a:xfrm>
            <a:off x="7543800" y="2194560"/>
            <a:ext cx="457200" cy="457200"/>
          </a:xfrm>
          <a:prstGeom prst="rect">
            <a:avLst/>
          </a:prstGeom>
        </p:spPr>
      </p:pic>
      <p:sp>
        <p:nvSpPr>
          <p:cNvPr id="15" name="Offer title"/>
          <p:cNvSpPr txBox="1"/>
          <p:nvPr/>
        </p:nvSpPr>
        <p:spPr>
          <a:xfrm>
            <a:off x="7315200" y="3063240"/>
            <a:ext cx="4023360" cy="502920"/>
          </a:xfrm>
          <a:prstGeom prst="rect">
            <a:avLst/>
          </a:prstGeom>
          <a:noFill/>
          <a:ln/>
        </p:spPr>
        <p:txBody>
          <a:bodyPr wrap="square" lIns="0" tIns="0" rIns="0" bIns="0" rtlCol="0" anchor="ctr"/>
          <a:lstStyle/>
          <a:p>
            <a:pPr indent="0" marL="0">
              <a:buNone/>
            </a:pPr>
            <a:r>
              <a:rPr lang="en-US" sz="2600" b="1" dirty="0">
                <a:solidFill>
                  <a:schemeClr val="bg1"/>
                </a:solidFill>
              </a:rPr>
              <a:t>Become a Pioneer Member</a:t>
            </a:r>
            <a:endParaRPr lang="en-US" sz="2600" dirty="0"/>
          </a:p>
        </p:txBody>
      </p:sp>
      <p:sp>
        <p:nvSpPr>
          <p:cNvPr id="16" name="Offer text"/>
          <p:cNvSpPr txBox="1"/>
          <p:nvPr/>
        </p:nvSpPr>
        <p:spPr>
          <a:xfrm>
            <a:off x="7315200" y="3611880"/>
            <a:ext cx="3931920" cy="1005840"/>
          </a:xfrm>
          <a:prstGeom prst="rect">
            <a:avLst/>
          </a:prstGeom>
          <a:noFill/>
          <a:ln/>
        </p:spPr>
        <p:txBody>
          <a:bodyPr wrap="square" lIns="0" tIns="0" rIns="0" bIns="0" rtlCol="0" anchor="t"/>
          <a:lstStyle/>
          <a:p>
            <a:pPr indent="0" marL="0">
              <a:buNone/>
            </a:pPr>
            <a:r>
              <a:rPr lang="en-US" sz="1600" dirty="0">
                <a:solidFill>
                  <a:schemeClr val="bg2"/>
                </a:solidFill>
              </a:rPr>
              <a:t>The first 50 restaurants approved use Bite Wise free for life. No card, no commission, every feature.</a:t>
            </a:r>
            <a:endParaRPr lang="en-US" sz="1600" dirty="0"/>
          </a:p>
        </p:txBody>
      </p:sp>
      <p:sp>
        <p:nvSpPr>
          <p:cNvPr id="17" name="Contact"/>
          <p:cNvSpPr txBox="1"/>
          <p:nvPr/>
        </p:nvSpPr>
        <p:spPr>
          <a:xfrm>
            <a:off x="7315200" y="4754880"/>
            <a:ext cx="4023360" cy="777240"/>
          </a:xfrm>
          <a:prstGeom prst="rect">
            <a:avLst/>
          </a:prstGeom>
          <a:noFill/>
          <a:ln/>
        </p:spPr>
        <p:txBody>
          <a:bodyPr wrap="square" lIns="0" tIns="0" rIns="0" bIns="0" rtlCol="0" anchor="ctr"/>
          <a:lstStyle/>
          <a:p>
            <a:pPr indent="0" marL="0">
              <a:buNone/>
            </a:pPr>
            <a:r>
              <a:rPr lang="en-US" sz="180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www.bite-wise.org</a:t>
            </a:r>
            <a:endParaRPr lang="en-US" sz="1800" dirty="0"/>
          </a:p>
          <a:p>
            <a:pPr indent="0" marL="0">
              <a:buNone/>
            </a:pPr>
            <a:r>
              <a:rPr lang="en-US" sz="1800" b="1"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support@bite-wise.org</a:t>
            </a:r>
            <a:endParaRPr lang="en-US" sz="1800" dirty="0"/>
          </a:p>
        </p:txBody>
      </p:sp>
    </p:spTree>
  </p:cSld>
  <p:clrMapOvr>
    <a:masterClrMapping/>
  </p:clrMapOvr>
</p:sld>
</file>

<file path=ppt/theme/theme1.xml><?xml version="1.0" encoding="utf-8"?>
<a:theme xmlns:a="http://schemas.openxmlformats.org/drawingml/2006/main" name="Bite Wise">
  <a:themeElements>
    <a:clrScheme name="Bite Wise">
      <a:dk1>
        <a:srgbClr val="2A1A0E"/>
      </a:dk1>
      <a:lt1>
        <a:srgbClr val="FFFFFF"/>
      </a:lt1>
      <a:dk2>
        <a:srgbClr val="5B4636"/>
      </a:dk2>
      <a:lt2>
        <a:srgbClr val="FFF4E8"/>
      </a:lt2>
      <a:accent1>
        <a:srgbClr val="EA580C"/>
      </a:accent1>
      <a:accent2>
        <a:srgbClr val="4E9F3D"/>
      </a:accent2>
      <a:accent3>
        <a:srgbClr val="FFEDD5"/>
      </a:accent3>
      <a:accent4>
        <a:srgbClr val="E6F4DF"/>
      </a:accent4>
      <a:accent5>
        <a:srgbClr val="C2410C"/>
      </a:accent5>
      <a:accent6>
        <a:srgbClr val="3A2616"/>
      </a:accent6>
      <a:hlink>
        <a:srgbClr val="C2410C"/>
      </a:hlink>
      <a:folHlink>
        <a:srgbClr val="7C2D12"/>
      </a:folHlink>
    </a:clrScheme>
    <a:fontScheme name="Bite Wi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Bite Wise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Bite Wise for Restaurants</dc:title>
  <dc:subject>PptxGenJS Presentation</dc:subject>
  <dc:creator>Bite Wise</dc:creator>
  <cp:lastModifiedBy>Bite Wise</cp:lastModifiedBy>
  <cp:revision>1</cp:revision>
  <dcterms:created xsi:type="dcterms:W3CDTF">2026-10-13T04:52:23Z</dcterms:created>
  <dcterms:modified xsi:type="dcterms:W3CDTF">2026-10-13T04:52:23Z</dcterms:modified>
</cp:coreProperties>
</file>