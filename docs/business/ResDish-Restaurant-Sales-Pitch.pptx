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f61494d8-63e2-b5f7-6410-022c3fc00a96}">
          <p14:sldIdLst>
            <p14:sldId id="256"/>
          </p14:sldIdLst>
        </p14:section>
        <p14:section name="Why ResDish" id="{8525e884-39f4-f595-965a-77a37855900a}">
          <p14:sldIdLst>
            <p14:sldId id="257"/>
            <p14:sldId id="258"/>
          </p14:sldIdLst>
        </p14:section>
        <p14:section name="The product" id="{0f15b935-ea97-fdce-6d22-153dba07b437}">
          <p14:sldIdLst>
            <p14:sldId id="259"/>
            <p14:sldId id="260"/>
            <p14:sldId id="261"/>
          </p14:sldIdLst>
        </p14:section>
        <p14:section name="Pricing" id="{65721fe8-fdfe-e37e-6137-061ff80b7bcd}">
          <p14:sldIdLst>
            <p14:sldId id="262"/>
            <p14:sldId id="263"/>
          </p14:sldIdLst>
        </p14:section>
        <p14:section name="Trust" id="{5fccc868-1524-1445-eb8a-8cf5d74609c1}">
          <p14:sldIdLst>
            <p14:sldId id="264"/>
          </p14:sldIdLst>
        </p14:section>
        <p14:section name="Next steps" id="{49c251ac-1f08-3202-ac48-dae2c83c3072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2A1A0E"/>
                </a:solidFill>
                <a:latin typeface="+mn-lt"/>
              </a:defRPr>
            </a:pPr>
            <a:r>
              <a:rPr sz="1600" b="0" i="0" u="none" strike="noStrike">
                <a:solidFill>
                  <a:srgbClr val="2A1A0E"/>
                </a:solidFill>
                <a:latin typeface="+mn-lt"/>
              </a:rPr>
              <a:t>Per month, in dollars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 month</c:v>
                </c:pt>
              </c:strCache>
            </c:strRef>
          </c:tx>
          <c:spPr>
            <a:solidFill>
              <a:srgbClr val="4E9F3D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1" i="0" strike="noStrike" sz="1600" u="none">
                    <a:solidFill>
                      <a:srgbClr val="2A1A0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E9F3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A580C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Food sales recovered</c:v>
                  </c:pt>
                  <c:pt idx="1">
                    <c:v>ResDish monthly plan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1200</c:v>
                </c:pt>
                <c:pt idx="1">
                  <c:v>15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1" i="0" strike="noStrike" sz="1600" u="none">
                  <a:solidFill>
                    <a:srgbClr val="2A1A0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B463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 promise: ResDish turns food you already paid to make into money, instead of waste. Mention the Pioneer offer early: the first 50 approved restaurants use it free for life.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owner how often each of these happens in their kitchen. Most restaurants recognise all three. The point: this food is already paid for; the only question is whether it earns anything.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ResDish is a local marketplace. Restaurants post surplus dishes at a discount; customers nearby buy them on their phone and pick them up. It works in the United States and Canada, in US or Canadian dollars.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one real order. Stress that the restaurant is never left holding an unpaid order: the card is held at ordering and charged only when your staff confirm the PIN.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dashboard live if you can, or play the short restaurant video from the website. Point out the discard timer: food is only sold while it is safe.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Equipment objection: none needed. Any tablet or phone with a browser works. Bookkeeping objection: every payout has an invoice number, and the daily report exports to PDF and CSV for your accountant. Sales tax is set automatically from your address.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message: no commission. The restaurant keeps the full discounted price of the food; ResDish earns a service fee from the customer and the plan fee. Then close on urgency: Pioneer spots are limited to the first 50 approved restaurants. Be upfront that ResDish coupons can come out of the food price, as the agreement explains.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meals x $8 x 30 days = $1,200 a month back from food that would have been thrown away, against a $15 plan, or nothing for a Pioneer Member. Ask the owner to plug in their own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Handle the risk objections here: unpaid orders (card hold), wrong person picking up (PIN), time-wasters (no-show suspensions and bans), tax compliance (automatic sales tax), and customer service (ResDish handles it).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Close: offer to sign them up on the spot, on their phone or yours. Remind them Pioneer spots go in order of approval, so signing up today secures a free plan for life while spots remain.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RescueBites/public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143000" cy="329184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ti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RescueBites/public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143000" cy="329184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jp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ite-wise.org" TargetMode="External"/><Relationship Id="rId4" Type="http://schemas.openxmlformats.org/officeDocument/2006/relationships/hyperlink" Target="mailto:support@bite-wise.org" TargetMode="External"/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48640"/>
            <a:ext cx="2377440" cy="685800"/>
          </a:xfrm>
          <a:prstGeom prst="rect">
            <a:avLst/>
          </a:prstGeom>
        </p:spPr>
      </p:pic>
      <p:sp>
        <p:nvSpPr>
          <p:cNvPr id="3" name="Headline"/>
          <p:cNvSpPr txBox="1"/>
          <p:nvPr/>
        </p:nvSpPr>
        <p:spPr>
          <a:xfrm>
            <a:off x="640080" y="1828800"/>
            <a:ext cx="6035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Turn your surplus food into revenue</a:t>
            </a:r>
            <a:endParaRPr lang="en-US" sz="4800" dirty="0"/>
          </a:p>
        </p:txBody>
      </p:sp>
      <p:sp>
        <p:nvSpPr>
          <p:cNvPr id="4" name="Tagline"/>
          <p:cNvSpPr txBox="1"/>
          <p:nvPr/>
        </p:nvSpPr>
        <p:spPr>
          <a:xfrm>
            <a:off x="640080" y="379476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Sell wrong orders, no-shows and end-of-day extras to customers nearby, instead of throwing them away. No commission on your food sales.</a:t>
            </a:r>
            <a:endParaRPr lang="en-US" sz="1800" dirty="0"/>
          </a:p>
        </p:txBody>
      </p:sp>
      <p:sp>
        <p:nvSpPr>
          <p:cNvPr id="5" name="Offer pill"/>
          <p:cNvSpPr/>
          <p:nvPr/>
        </p:nvSpPr>
        <p:spPr>
          <a:xfrm>
            <a:off x="640080" y="5120640"/>
            <a:ext cx="4846320" cy="685800"/>
          </a:xfrm>
          <a:prstGeom prst="roundRect">
            <a:avLst>
              <a:gd name="adj" fmla="val 49333"/>
            </a:avLst>
          </a:prstGeom>
          <a:solidFill>
            <a:schemeClr val="accent2"/>
          </a:solidFill>
          <a:ln/>
        </p:spPr>
      </p:sp>
      <p:sp>
        <p:nvSpPr>
          <p:cNvPr id="6" name="Offer text"/>
          <p:cNvSpPr txBox="1"/>
          <p:nvPr/>
        </p:nvSpPr>
        <p:spPr>
          <a:xfrm>
            <a:off x="640080" y="512064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🌱 </a:t>
            </a:r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First 50 restaurants: free for life</a:t>
            </a:r>
            <a:endParaRPr lang="en-US" sz="1800" dirty="0"/>
          </a:p>
        </p:txBody>
      </p:sp>
      <p:sp>
        <p:nvSpPr>
          <p:cNvPr id="7" name="Dashboard screenshot frame"/>
          <p:cNvSpPr/>
          <p:nvPr/>
        </p:nvSpPr>
        <p:spPr>
          <a:xfrm>
            <a:off x="6848856" y="1682496"/>
            <a:ext cx="4864608" cy="2784348"/>
          </a:xfrm>
          <a:prstGeom prst="roundRect">
            <a:avLst>
              <a:gd name="adj" fmla="val 3941"/>
            </a:avLst>
          </a:prstGeom>
          <a:solidFill>
            <a:schemeClr val="tx1"/>
          </a:solidFill>
          <a:ln/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8" name="Dashboard screenshot" descr="/tmp/claude-0/-home-user-RescueBites/e2cfd2a4-15d3-55a4-8cb5-5a18f8cff6b8/scratchpad/deck/frames/r13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737360"/>
            <a:ext cx="4754880" cy="2674620"/>
          </a:xfrm>
          <a:prstGeom prst="rect">
            <a:avLst/>
          </a:prstGeom>
        </p:spPr>
      </p:pic>
      <p:sp>
        <p:nvSpPr>
          <p:cNvPr id="9" name="Screenshot caption"/>
          <p:cNvSpPr txBox="1"/>
          <p:nvPr/>
        </p:nvSpPr>
        <p:spPr>
          <a:xfrm>
            <a:off x="6903720" y="45262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bg2"/>
                </a:solidFill>
              </a:rPr>
              <a:t>Your restaurant dashboard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Every kitchen ends the day with good food it can't sell</a:t>
            </a:r>
            <a:endParaRPr lang="en-US" sz="36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You already paid for the ingredients and the labour. Throwing it out turns that cost into a total loss.</a:t>
            </a:r>
            <a:endParaRPr lang="en-US" sz="1800" dirty="0"/>
          </a:p>
        </p:txBody>
      </p:sp>
      <p:sp>
        <p:nvSpPr>
          <p:cNvPr id="4" name="Pain 1 card"/>
          <p:cNvSpPr/>
          <p:nvPr/>
        </p:nvSpPr>
        <p:spPr>
          <a:xfrm>
            <a:off x="548640" y="2011680"/>
            <a:ext cx="3474720" cy="3566160"/>
          </a:xfrm>
          <a:prstGeom prst="roundRect">
            <a:avLst>
              <a:gd name="adj" fmla="val 3947"/>
            </a:avLst>
          </a:prstGeom>
          <a:solidFill>
            <a:schemeClr val="bg2"/>
          </a:solidFill>
          <a:ln/>
        </p:spPr>
      </p:sp>
      <p:sp>
        <p:nvSpPr>
          <p:cNvPr id="5" name="Pain 1 circle"/>
          <p:cNvSpPr/>
          <p:nvPr/>
        </p:nvSpPr>
        <p:spPr>
          <a:xfrm>
            <a:off x="914400" y="233172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Pain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560320"/>
            <a:ext cx="457200" cy="457200"/>
          </a:xfrm>
          <a:prstGeom prst="rect">
            <a:avLst/>
          </a:prstGeom>
        </p:spPr>
      </p:pic>
      <p:sp>
        <p:nvSpPr>
          <p:cNvPr id="7" name="Pain 1 title"/>
          <p:cNvSpPr txBox="1"/>
          <p:nvPr/>
        </p:nvSpPr>
        <p:spPr>
          <a:xfrm>
            <a:off x="914400" y="3474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Wrong orders</a:t>
            </a:r>
            <a:endParaRPr lang="en-US" sz="2200" dirty="0"/>
          </a:p>
        </p:txBody>
      </p:sp>
      <p:sp>
        <p:nvSpPr>
          <p:cNvPr id="8" name="Pain 1 text"/>
          <p:cNvSpPr txBox="1"/>
          <p:nvPr/>
        </p:nvSpPr>
        <p:spPr>
          <a:xfrm>
            <a:off x="914400" y="397764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 dish made with the wrong ingredient, or the wrong size, that the customer sent back.</a:t>
            </a:r>
            <a:endParaRPr lang="en-US" sz="1600" dirty="0"/>
          </a:p>
        </p:txBody>
      </p:sp>
      <p:sp>
        <p:nvSpPr>
          <p:cNvPr id="9" name="Pain 2 card"/>
          <p:cNvSpPr/>
          <p:nvPr/>
        </p:nvSpPr>
        <p:spPr>
          <a:xfrm>
            <a:off x="4297680" y="2011680"/>
            <a:ext cx="3474720" cy="3566160"/>
          </a:xfrm>
          <a:prstGeom prst="roundRect">
            <a:avLst>
              <a:gd name="adj" fmla="val 3947"/>
            </a:avLst>
          </a:prstGeom>
          <a:solidFill>
            <a:schemeClr val="bg2"/>
          </a:solidFill>
          <a:ln/>
        </p:spPr>
      </p:sp>
      <p:sp>
        <p:nvSpPr>
          <p:cNvPr id="10" name="Pain 2 circle"/>
          <p:cNvSpPr/>
          <p:nvPr/>
        </p:nvSpPr>
        <p:spPr>
          <a:xfrm>
            <a:off x="4663440" y="233172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Pain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2560320"/>
            <a:ext cx="457200" cy="457200"/>
          </a:xfrm>
          <a:prstGeom prst="rect">
            <a:avLst/>
          </a:prstGeom>
        </p:spPr>
      </p:pic>
      <p:sp>
        <p:nvSpPr>
          <p:cNvPr id="12" name="Pain 2 title"/>
          <p:cNvSpPr txBox="1"/>
          <p:nvPr/>
        </p:nvSpPr>
        <p:spPr>
          <a:xfrm>
            <a:off x="4663440" y="3474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No-shows and cancels</a:t>
            </a:r>
            <a:endParaRPr lang="en-US" sz="2200" dirty="0"/>
          </a:p>
        </p:txBody>
      </p:sp>
      <p:sp>
        <p:nvSpPr>
          <p:cNvPr id="13" name="Pain 2 text"/>
          <p:cNvSpPr txBox="1"/>
          <p:nvPr/>
        </p:nvSpPr>
        <p:spPr>
          <a:xfrm>
            <a:off x="4663440" y="397764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Delivery drivers who cancel, and pickup orders nobody comes for.</a:t>
            </a:r>
            <a:endParaRPr lang="en-US" sz="1600" dirty="0"/>
          </a:p>
        </p:txBody>
      </p:sp>
      <p:sp>
        <p:nvSpPr>
          <p:cNvPr id="14" name="Pain 3 card"/>
          <p:cNvSpPr/>
          <p:nvPr/>
        </p:nvSpPr>
        <p:spPr>
          <a:xfrm>
            <a:off x="8046720" y="2011680"/>
            <a:ext cx="3474720" cy="3566160"/>
          </a:xfrm>
          <a:prstGeom prst="roundRect">
            <a:avLst>
              <a:gd name="adj" fmla="val 3947"/>
            </a:avLst>
          </a:prstGeom>
          <a:solidFill>
            <a:schemeClr val="bg2"/>
          </a:solidFill>
          <a:ln/>
        </p:spPr>
      </p:sp>
      <p:sp>
        <p:nvSpPr>
          <p:cNvPr id="15" name="Pain 3 circle"/>
          <p:cNvSpPr/>
          <p:nvPr/>
        </p:nvSpPr>
        <p:spPr>
          <a:xfrm>
            <a:off x="8412480" y="233172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Pain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0" y="2560320"/>
            <a:ext cx="457200" cy="457200"/>
          </a:xfrm>
          <a:prstGeom prst="rect">
            <a:avLst/>
          </a:prstGeom>
        </p:spPr>
      </p:pic>
      <p:sp>
        <p:nvSpPr>
          <p:cNvPr id="17" name="Pain 3 title"/>
          <p:cNvSpPr txBox="1"/>
          <p:nvPr/>
        </p:nvSpPr>
        <p:spPr>
          <a:xfrm>
            <a:off x="8412480" y="3474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Closing-time extras</a:t>
            </a:r>
            <a:endParaRPr lang="en-US" sz="2200" dirty="0"/>
          </a:p>
        </p:txBody>
      </p:sp>
      <p:sp>
        <p:nvSpPr>
          <p:cNvPr id="18" name="Pain 3 text"/>
          <p:cNvSpPr txBox="1"/>
          <p:nvPr/>
        </p:nvSpPr>
        <p:spPr>
          <a:xfrm>
            <a:off x="8412480" y="397764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The last trays and portions you made too much of, when demand was lower than expected.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ResDish sells it to people nearby, within the hour</a:t>
            </a:r>
            <a:endParaRPr lang="en-US" sz="3600" dirty="0"/>
          </a:p>
        </p:txBody>
      </p:sp>
      <p:sp>
        <p:nvSpPr>
          <p:cNvPr id="3" name="Benefit 1 circle"/>
          <p:cNvSpPr/>
          <p:nvPr/>
        </p:nvSpPr>
        <p:spPr>
          <a:xfrm>
            <a:off x="548640" y="160020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4" name="Benefit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1817370"/>
            <a:ext cx="434340" cy="434340"/>
          </a:xfrm>
          <a:prstGeom prst="rect">
            <a:avLst/>
          </a:prstGeom>
        </p:spPr>
      </p:pic>
      <p:sp>
        <p:nvSpPr>
          <p:cNvPr id="5" name="Benefit 1 title"/>
          <p:cNvSpPr txBox="1"/>
          <p:nvPr/>
        </p:nvSpPr>
        <p:spPr>
          <a:xfrm>
            <a:off x="1645920" y="158191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Recover revenue</a:t>
            </a:r>
            <a:endParaRPr lang="en-US" sz="2200" dirty="0"/>
          </a:p>
        </p:txBody>
      </p:sp>
      <p:sp>
        <p:nvSpPr>
          <p:cNvPr id="6" name="Benefit 1 text"/>
          <p:cNvSpPr txBox="1"/>
          <p:nvPr/>
        </p:nvSpPr>
        <p:spPr>
          <a:xfrm>
            <a:off x="1645920" y="201168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Earn from food that would otherwise go in the bin.</a:t>
            </a:r>
            <a:endParaRPr lang="en-US" sz="1600" dirty="0"/>
          </a:p>
        </p:txBody>
      </p:sp>
      <p:sp>
        <p:nvSpPr>
          <p:cNvPr id="7" name="Benefit 2 circle"/>
          <p:cNvSpPr/>
          <p:nvPr/>
        </p:nvSpPr>
        <p:spPr>
          <a:xfrm>
            <a:off x="548640" y="306324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8" name="Benefit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810" y="3280410"/>
            <a:ext cx="434340" cy="434340"/>
          </a:xfrm>
          <a:prstGeom prst="rect">
            <a:avLst/>
          </a:prstGeom>
        </p:spPr>
      </p:pic>
      <p:sp>
        <p:nvSpPr>
          <p:cNvPr id="9" name="Benefit 2 title"/>
          <p:cNvSpPr txBox="1"/>
          <p:nvPr/>
        </p:nvSpPr>
        <p:spPr>
          <a:xfrm>
            <a:off x="1645920" y="304495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Win new regulars</a:t>
            </a:r>
            <a:endParaRPr lang="en-US" sz="2200" dirty="0"/>
          </a:p>
        </p:txBody>
      </p:sp>
      <p:sp>
        <p:nvSpPr>
          <p:cNvPr id="10" name="Benefit 2 text"/>
          <p:cNvSpPr txBox="1"/>
          <p:nvPr/>
        </p:nvSpPr>
        <p:spPr>
          <a:xfrm>
            <a:off x="1645920" y="347472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Customers discover you through a deal, then come back at full price.</a:t>
            </a:r>
            <a:endParaRPr lang="en-US" sz="1600" dirty="0"/>
          </a:p>
        </p:txBody>
      </p:sp>
      <p:sp>
        <p:nvSpPr>
          <p:cNvPr id="11" name="Benefit 3 circle"/>
          <p:cNvSpPr/>
          <p:nvPr/>
        </p:nvSpPr>
        <p:spPr>
          <a:xfrm>
            <a:off x="548640" y="452628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Benefit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10" y="4743450"/>
            <a:ext cx="434340" cy="434340"/>
          </a:xfrm>
          <a:prstGeom prst="rect">
            <a:avLst/>
          </a:prstGeom>
        </p:spPr>
      </p:pic>
      <p:sp>
        <p:nvSpPr>
          <p:cNvPr id="13" name="Benefit 3 title"/>
          <p:cNvSpPr txBox="1"/>
          <p:nvPr/>
        </p:nvSpPr>
        <p:spPr>
          <a:xfrm>
            <a:off x="1645920" y="450799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Waste less</a:t>
            </a:r>
            <a:endParaRPr lang="en-US" sz="2200" dirty="0"/>
          </a:p>
        </p:txBody>
      </p:sp>
      <p:sp>
        <p:nvSpPr>
          <p:cNvPr id="14" name="Benefit 3 text"/>
          <p:cNvSpPr txBox="1"/>
          <p:nvPr/>
        </p:nvSpPr>
        <p:spPr>
          <a:xfrm>
            <a:off x="1645920" y="493776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Every meal sold is one less in the landfill, and a story your customers like.</a:t>
            </a:r>
            <a:endParaRPr lang="en-US" sz="1600" dirty="0"/>
          </a:p>
        </p:txBody>
      </p:sp>
      <p:sp>
        <p:nvSpPr>
          <p:cNvPr id="15" name="Customer deals screenshot frame"/>
          <p:cNvSpPr/>
          <p:nvPr/>
        </p:nvSpPr>
        <p:spPr>
          <a:xfrm>
            <a:off x="6117336" y="1545336"/>
            <a:ext cx="5596128" cy="3195828"/>
          </a:xfrm>
          <a:prstGeom prst="roundRect">
            <a:avLst>
              <a:gd name="adj" fmla="val 3433"/>
            </a:avLst>
          </a:prstGeom>
          <a:solidFill>
            <a:schemeClr val="tx1"/>
          </a:solidFill>
          <a:ln/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16" name="Customer deals screenshot" descr="/tmp/claude-0/-home-user-RescueBites/e2cfd2a4-15d3-55a4-8cb5-5a18f8cff6b8/scratchpad/deck/frames/c20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600200"/>
            <a:ext cx="5486400" cy="3086100"/>
          </a:xfrm>
          <a:prstGeom prst="rect">
            <a:avLst/>
          </a:prstGeom>
        </p:spPr>
      </p:pic>
      <p:sp>
        <p:nvSpPr>
          <p:cNvPr id="17" name="Screenshot caption"/>
          <p:cNvSpPr txBox="1"/>
          <p:nvPr/>
        </p:nvSpPr>
        <p:spPr>
          <a:xfrm>
            <a:off x="6172200" y="48463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What customers see: live deals near them, with distance and a pickup countdown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Four steps from extra food to money in the bank</a:t>
            </a:r>
            <a:endParaRPr lang="en-US" sz="3600" dirty="0"/>
          </a:p>
        </p:txBody>
      </p:sp>
      <p:sp>
        <p:nvSpPr>
          <p:cNvPr id="3" name="Step 1 connector"/>
          <p:cNvSpPr/>
          <p:nvPr/>
        </p:nvSpPr>
        <p:spPr>
          <a:xfrm>
            <a:off x="1874520" y="2377440"/>
            <a:ext cx="2514600" cy="0"/>
          </a:xfrm>
          <a:prstGeom prst="line">
            <a:avLst/>
          </a:prstGeom>
          <a:noFill/>
          <a:ln w="38100">
            <a:solidFill>
              <a:schemeClr val="accent3"/>
            </a:solidFill>
            <a:prstDash val="dash"/>
          </a:ln>
        </p:spPr>
      </p:sp>
      <p:sp>
        <p:nvSpPr>
          <p:cNvPr id="4" name="Step 1 circle"/>
          <p:cNvSpPr/>
          <p:nvPr/>
        </p:nvSpPr>
        <p:spPr>
          <a:xfrm>
            <a:off x="868680" y="1828800"/>
            <a:ext cx="1097280" cy="10972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Step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103120"/>
            <a:ext cx="548640" cy="548640"/>
          </a:xfrm>
          <a:prstGeom prst="rect">
            <a:avLst/>
          </a:prstGeom>
        </p:spPr>
      </p:pic>
      <p:sp>
        <p:nvSpPr>
          <p:cNvPr id="6" name="Step 1 number"/>
          <p:cNvSpPr txBox="1"/>
          <p:nvPr/>
        </p:nvSpPr>
        <p:spPr>
          <a:xfrm>
            <a:off x="1691640" y="173736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Step 1 title"/>
          <p:cNvSpPr txBox="1"/>
          <p:nvPr/>
        </p:nvSpPr>
        <p:spPr>
          <a:xfrm>
            <a:off x="548640" y="32004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Post it</a:t>
            </a:r>
            <a:endParaRPr lang="en-US" sz="2200" dirty="0"/>
          </a:p>
        </p:txBody>
      </p:sp>
      <p:sp>
        <p:nvSpPr>
          <p:cNvPr id="8" name="Step 1 text"/>
          <p:cNvSpPr txBox="1"/>
          <p:nvPr/>
        </p:nvSpPr>
        <p:spPr>
          <a:xfrm>
            <a:off x="548640" y="370332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Pick a dish from your menu, set the discount, quantity and a discard timer. About a minute.</a:t>
            </a:r>
            <a:endParaRPr lang="en-US" sz="1600" dirty="0"/>
          </a:p>
        </p:txBody>
      </p:sp>
      <p:sp>
        <p:nvSpPr>
          <p:cNvPr id="9" name="Step 2 connector"/>
          <p:cNvSpPr/>
          <p:nvPr/>
        </p:nvSpPr>
        <p:spPr>
          <a:xfrm>
            <a:off x="4709160" y="2377440"/>
            <a:ext cx="2514600" cy="0"/>
          </a:xfrm>
          <a:prstGeom prst="line">
            <a:avLst/>
          </a:prstGeom>
          <a:noFill/>
          <a:ln w="38100">
            <a:solidFill>
              <a:schemeClr val="accent3"/>
            </a:solidFill>
            <a:prstDash val="dash"/>
          </a:ln>
        </p:spPr>
      </p:sp>
      <p:sp>
        <p:nvSpPr>
          <p:cNvPr id="10" name="Step 2 circle"/>
          <p:cNvSpPr/>
          <p:nvPr/>
        </p:nvSpPr>
        <p:spPr>
          <a:xfrm>
            <a:off x="3703320" y="1828800"/>
            <a:ext cx="1097280" cy="10972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Step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40" y="2103120"/>
            <a:ext cx="548640" cy="548640"/>
          </a:xfrm>
          <a:prstGeom prst="rect">
            <a:avLst/>
          </a:prstGeom>
        </p:spPr>
      </p:pic>
      <p:sp>
        <p:nvSpPr>
          <p:cNvPr id="12" name="Step 2 number"/>
          <p:cNvSpPr txBox="1"/>
          <p:nvPr/>
        </p:nvSpPr>
        <p:spPr>
          <a:xfrm>
            <a:off x="4526280" y="173736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Step 2 title"/>
          <p:cNvSpPr txBox="1"/>
          <p:nvPr/>
        </p:nvSpPr>
        <p:spPr>
          <a:xfrm>
            <a:off x="3383280" y="32004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A bell rings</a:t>
            </a:r>
            <a:endParaRPr lang="en-US" sz="2200" dirty="0"/>
          </a:p>
        </p:txBody>
      </p:sp>
      <p:sp>
        <p:nvSpPr>
          <p:cNvPr id="14" name="Step 2 text"/>
          <p:cNvSpPr txBox="1"/>
          <p:nvPr/>
        </p:nvSpPr>
        <p:spPr>
          <a:xfrm>
            <a:off x="3383280" y="370332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 nearby customer orders. Their card is only held, not charged, for now.</a:t>
            </a:r>
            <a:endParaRPr lang="en-US" sz="1600" dirty="0"/>
          </a:p>
        </p:txBody>
      </p:sp>
      <p:sp>
        <p:nvSpPr>
          <p:cNvPr id="15" name="Step 3 connector"/>
          <p:cNvSpPr/>
          <p:nvPr/>
        </p:nvSpPr>
        <p:spPr>
          <a:xfrm>
            <a:off x="7543800" y="2377440"/>
            <a:ext cx="2514600" cy="0"/>
          </a:xfrm>
          <a:prstGeom prst="line">
            <a:avLst/>
          </a:prstGeom>
          <a:noFill/>
          <a:ln w="38100">
            <a:solidFill>
              <a:schemeClr val="accent3"/>
            </a:solidFill>
            <a:prstDash val="dash"/>
          </a:ln>
        </p:spPr>
      </p:sp>
      <p:sp>
        <p:nvSpPr>
          <p:cNvPr id="16" name="Step 3 circle"/>
          <p:cNvSpPr/>
          <p:nvPr/>
        </p:nvSpPr>
        <p:spPr>
          <a:xfrm>
            <a:off x="6537960" y="1828800"/>
            <a:ext cx="1097280" cy="10972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Step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2103120"/>
            <a:ext cx="548640" cy="548640"/>
          </a:xfrm>
          <a:prstGeom prst="rect">
            <a:avLst/>
          </a:prstGeom>
        </p:spPr>
      </p:pic>
      <p:sp>
        <p:nvSpPr>
          <p:cNvPr id="18" name="Step 3 number"/>
          <p:cNvSpPr txBox="1"/>
          <p:nvPr/>
        </p:nvSpPr>
        <p:spPr>
          <a:xfrm>
            <a:off x="7360920" y="173736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Step 3 title"/>
          <p:cNvSpPr txBox="1"/>
          <p:nvPr/>
        </p:nvSpPr>
        <p:spPr>
          <a:xfrm>
            <a:off x="6217920" y="32004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Check the PIN</a:t>
            </a:r>
            <a:endParaRPr lang="en-US" sz="2200" dirty="0"/>
          </a:p>
        </p:txBody>
      </p:sp>
      <p:sp>
        <p:nvSpPr>
          <p:cNvPr id="20" name="Step 3 text"/>
          <p:cNvSpPr txBox="1"/>
          <p:nvPr/>
        </p:nvSpPr>
        <p:spPr>
          <a:xfrm>
            <a:off x="6217920" y="370332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At the counter, type the customer's 4-digit pickup PIN and hand over the food.</a:t>
            </a:r>
            <a:endParaRPr lang="en-US" sz="1600" dirty="0"/>
          </a:p>
        </p:txBody>
      </p:sp>
      <p:sp>
        <p:nvSpPr>
          <p:cNvPr id="21" name="Step 4 circle"/>
          <p:cNvSpPr/>
          <p:nvPr/>
        </p:nvSpPr>
        <p:spPr>
          <a:xfrm>
            <a:off x="9372600" y="1828800"/>
            <a:ext cx="1097280" cy="10972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2" name="Step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6920" y="2103120"/>
            <a:ext cx="548640" cy="548640"/>
          </a:xfrm>
          <a:prstGeom prst="rect">
            <a:avLst/>
          </a:prstGeom>
        </p:spPr>
      </p:pic>
      <p:sp>
        <p:nvSpPr>
          <p:cNvPr id="23" name="Step 4 number"/>
          <p:cNvSpPr txBox="1"/>
          <p:nvPr/>
        </p:nvSpPr>
        <p:spPr>
          <a:xfrm>
            <a:off x="10195560" y="173736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Step 4 title"/>
          <p:cNvSpPr txBox="1"/>
          <p:nvPr/>
        </p:nvSpPr>
        <p:spPr>
          <a:xfrm>
            <a:off x="9052560" y="32004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Get paid</a:t>
            </a:r>
            <a:endParaRPr lang="en-US" sz="2200" dirty="0"/>
          </a:p>
        </p:txBody>
      </p:sp>
      <p:sp>
        <p:nvSpPr>
          <p:cNvPr id="25" name="Step 4 text"/>
          <p:cNvSpPr txBox="1"/>
          <p:nvPr/>
        </p:nvSpPr>
        <p:spPr>
          <a:xfrm>
            <a:off x="9052560" y="370332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The card is charged at pickup, and your share goes to your Stripe account.</a:t>
            </a:r>
            <a:endParaRPr lang="en-US" sz="1600" dirty="0"/>
          </a:p>
        </p:txBody>
      </p:sp>
      <p:sp>
        <p:nvSpPr>
          <p:cNvPr id="26" name="No-show note"/>
          <p:cNvSpPr txBox="1"/>
          <p:nvPr/>
        </p:nvSpPr>
        <p:spPr>
          <a:xfrm>
            <a:off x="548640" y="548640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No-shows are released automatically when the discard timer ends, and the customer is not charged.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Post an offer in about a minute</a:t>
            </a:r>
            <a:endParaRPr lang="en-US" sz="3600" dirty="0"/>
          </a:p>
        </p:txBody>
      </p:sp>
      <p:sp>
        <p:nvSpPr>
          <p:cNvPr id="3" name="Offers screenshot frame"/>
          <p:cNvSpPr/>
          <p:nvPr/>
        </p:nvSpPr>
        <p:spPr>
          <a:xfrm>
            <a:off x="539496" y="1408176"/>
            <a:ext cx="6784848" cy="3864483"/>
          </a:xfrm>
          <a:prstGeom prst="roundRect">
            <a:avLst>
              <a:gd name="adj" fmla="val 2839"/>
            </a:avLst>
          </a:prstGeom>
          <a:solidFill>
            <a:schemeClr val="tx1"/>
          </a:solidFill>
          <a:ln/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4" name="Offers screenshot" descr="/tmp/claude-0/-home-user-RescueBites/e2cfd2a4-15d3-55a4-8cb5-5a18f8cff6b8/scratchpad/deck/frames/r2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63040"/>
            <a:ext cx="6675120" cy="3754755"/>
          </a:xfrm>
          <a:prstGeom prst="rect">
            <a:avLst/>
          </a:prstGeom>
        </p:spPr>
      </p:pic>
      <p:pic>
        <p:nvPicPr>
          <p:cNvPr id="5" name="Feature 1 chec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499616"/>
            <a:ext cx="292608" cy="292608"/>
          </a:xfrm>
          <a:prstGeom prst="rect">
            <a:avLst/>
          </a:prstGeom>
        </p:spPr>
      </p:pic>
      <p:sp>
        <p:nvSpPr>
          <p:cNvPr id="6" name="Feature 1 title"/>
          <p:cNvSpPr txBox="1"/>
          <p:nvPr/>
        </p:nvSpPr>
        <p:spPr>
          <a:xfrm>
            <a:off x="8092440" y="1463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Pick from your menu</a:t>
            </a:r>
            <a:endParaRPr lang="en-US" sz="1800" dirty="0"/>
          </a:p>
        </p:txBody>
      </p:sp>
      <p:sp>
        <p:nvSpPr>
          <p:cNvPr id="7" name="Feature 1 text"/>
          <p:cNvSpPr txBox="1"/>
          <p:nvPr/>
        </p:nvSpPr>
        <p:spPr>
          <a:xfrm>
            <a:off x="8092440" y="18288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Photos, dietary tags and allergen notes come with it. Import your menu from your website or a file.</a:t>
            </a:r>
            <a:endParaRPr lang="en-US" sz="1400" dirty="0"/>
          </a:p>
        </p:txBody>
      </p:sp>
      <p:pic>
        <p:nvPicPr>
          <p:cNvPr id="8" name="Feature 2 check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2523744"/>
            <a:ext cx="292608" cy="292608"/>
          </a:xfrm>
          <a:prstGeom prst="rect">
            <a:avLst/>
          </a:prstGeom>
        </p:spPr>
      </p:pic>
      <p:sp>
        <p:nvSpPr>
          <p:cNvPr id="9" name="Feature 2 title"/>
          <p:cNvSpPr txBox="1"/>
          <p:nvPr/>
        </p:nvSpPr>
        <p:spPr>
          <a:xfrm>
            <a:off x="8092440" y="24871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Discard timers</a:t>
            </a:r>
            <a:endParaRPr lang="en-US" sz="1800" dirty="0"/>
          </a:p>
        </p:txBody>
      </p:sp>
      <p:sp>
        <p:nvSpPr>
          <p:cNvPr id="10" name="Feature 2 text"/>
          <p:cNvSpPr txBox="1"/>
          <p:nvPr/>
        </p:nvSpPr>
        <p:spPr>
          <a:xfrm>
            <a:off x="8092440" y="2852928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Each offer ends when the food stops being safe to sell. Extend it with one tap.</a:t>
            </a:r>
            <a:endParaRPr lang="en-US" sz="1400" dirty="0"/>
          </a:p>
        </p:txBody>
      </p:sp>
      <p:pic>
        <p:nvPicPr>
          <p:cNvPr id="11" name="Feature 3 check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3547872"/>
            <a:ext cx="292608" cy="292608"/>
          </a:xfrm>
          <a:prstGeom prst="rect">
            <a:avLst/>
          </a:prstGeom>
        </p:spPr>
      </p:pic>
      <p:sp>
        <p:nvSpPr>
          <p:cNvPr id="12" name="Feature 3 title"/>
          <p:cNvSpPr txBox="1"/>
          <p:nvPr/>
        </p:nvSpPr>
        <p:spPr>
          <a:xfrm>
            <a:off x="8092440" y="351129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Pause, edit or end</a:t>
            </a:r>
            <a:endParaRPr lang="en-US" sz="1800" dirty="0"/>
          </a:p>
        </p:txBody>
      </p:sp>
      <p:sp>
        <p:nvSpPr>
          <p:cNvPr id="13" name="Feature 3 text"/>
          <p:cNvSpPr txBox="1"/>
          <p:nvPr/>
        </p:nvSpPr>
        <p:spPr>
          <a:xfrm>
            <a:off x="8092440" y="3877056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Stay in control of every offer, any time.</a:t>
            </a:r>
            <a:endParaRPr lang="en-US" sz="1400" dirty="0"/>
          </a:p>
        </p:txBody>
      </p:sp>
      <p:pic>
        <p:nvPicPr>
          <p:cNvPr id="14" name="Feature 4 check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0" y="4572000"/>
            <a:ext cx="292608" cy="292608"/>
          </a:xfrm>
          <a:prstGeom prst="rect">
            <a:avLst/>
          </a:prstGeom>
        </p:spPr>
      </p:pic>
      <p:sp>
        <p:nvSpPr>
          <p:cNvPr id="15" name="Feature 4 title"/>
          <p:cNvSpPr txBox="1"/>
          <p:nvPr/>
        </p:nvSpPr>
        <p:spPr>
          <a:xfrm>
            <a:off x="8092440" y="453542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Your whole team</a:t>
            </a:r>
            <a:endParaRPr lang="en-US" sz="1800" dirty="0"/>
          </a:p>
        </p:txBody>
      </p:sp>
      <p:sp>
        <p:nvSpPr>
          <p:cNvPr id="16" name="Feature 4 text"/>
          <p:cNvSpPr txBox="1"/>
          <p:nvPr/>
        </p:nvSpPr>
        <p:spPr>
          <a:xfrm>
            <a:off x="8092440" y="4901184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Add managers and supervisors with their own logins.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Counter kiosk on any tablet, payouts at every pickup</a:t>
            </a:r>
            <a:endParaRPr lang="en-US" sz="3600" dirty="0"/>
          </a:p>
        </p:txBody>
      </p:sp>
      <p:sp>
        <p:nvSpPr>
          <p:cNvPr id="3" name="Verify pickup screenshot frame"/>
          <p:cNvSpPr/>
          <p:nvPr/>
        </p:nvSpPr>
        <p:spPr>
          <a:xfrm>
            <a:off x="539496" y="1453896"/>
            <a:ext cx="5458968" cy="3118676"/>
          </a:xfrm>
          <a:prstGeom prst="roundRect">
            <a:avLst>
              <a:gd name="adj" fmla="val 3518"/>
            </a:avLst>
          </a:prstGeom>
          <a:solidFill>
            <a:schemeClr val="tx1"/>
          </a:solidFill>
          <a:ln/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4" name="Verify pickup screenshot" descr="/tmp/claude-0/-home-user-RescueBites/e2cfd2a4-15d3-55a4-8cb5-5a18f8cff6b8/scratchpad/deck/frames/r3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508760"/>
            <a:ext cx="5349240" cy="3008948"/>
          </a:xfrm>
          <a:prstGeom prst="rect">
            <a:avLst/>
          </a:prstGeom>
        </p:spPr>
      </p:pic>
      <p:sp>
        <p:nvSpPr>
          <p:cNvPr id="5" name="Payouts screenshot frame"/>
          <p:cNvSpPr/>
          <p:nvPr/>
        </p:nvSpPr>
        <p:spPr>
          <a:xfrm>
            <a:off x="6208776" y="1453896"/>
            <a:ext cx="5458968" cy="3118676"/>
          </a:xfrm>
          <a:prstGeom prst="roundRect">
            <a:avLst>
              <a:gd name="adj" fmla="val 3518"/>
            </a:avLst>
          </a:prstGeom>
          <a:solidFill>
            <a:schemeClr val="tx1"/>
          </a:solidFill>
          <a:ln/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6" name="Payouts screenshot" descr="/tmp/claude-0/-home-user-RescueBites/e2cfd2a4-15d3-55a4-8cb5-5a18f8cff6b8/scratchpad/deck/frames/r5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508760"/>
            <a:ext cx="5349240" cy="3008948"/>
          </a:xfrm>
          <a:prstGeom prst="rect">
            <a:avLst/>
          </a:prstGeom>
        </p:spPr>
      </p:pic>
      <p:sp>
        <p:nvSpPr>
          <p:cNvPr id="7" name="Kiosk text"/>
          <p:cNvSpPr txBox="1"/>
          <p:nvPr/>
        </p:nvSpPr>
        <p:spPr>
          <a:xfrm>
            <a:off x="594360" y="4709160"/>
            <a:ext cx="5349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Counter kiosk. </a:t>
            </a:r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Open your private kiosk link on any Android tablet or iPad. New orders ring a bell; staff type the PIN. No special hardware.</a:t>
            </a:r>
            <a:endParaRPr lang="en-US" sz="1500" dirty="0"/>
          </a:p>
        </p:txBody>
      </p:sp>
      <p:sp>
        <p:nvSpPr>
          <p:cNvPr id="8" name="Payouts text"/>
          <p:cNvSpPr txBox="1"/>
          <p:nvPr/>
        </p:nvSpPr>
        <p:spPr>
          <a:xfrm>
            <a:off x="6263640" y="4709160"/>
            <a:ext cx="5349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Payouts and reports. </a:t>
            </a:r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Every payment with its invoice number, in US or Canadian dollars. Daily sales reports with print, PDF and CSV.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One simple plan, and no commission on your food sales</a:t>
            </a:r>
            <a:endParaRPr lang="en-US" sz="3600" dirty="0"/>
          </a:p>
        </p:txBody>
      </p:sp>
      <p:sp>
        <p:nvSpPr>
          <p:cNvPr id="3" name="Pioneer Member card"/>
          <p:cNvSpPr/>
          <p:nvPr/>
        </p:nvSpPr>
        <p:spPr>
          <a:xfrm>
            <a:off x="548640" y="1508760"/>
            <a:ext cx="3474720" cy="3840480"/>
          </a:xfrm>
          <a:prstGeom prst="roundRect">
            <a:avLst>
              <a:gd name="adj" fmla="val 3947"/>
            </a:avLst>
          </a:prstGeom>
          <a:solidFill>
            <a:schemeClr val="tx1"/>
          </a:solidFill>
          <a:ln/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sp>
        <p:nvSpPr>
          <p:cNvPr id="4" name="Popular badge"/>
          <p:cNvSpPr txBox="1"/>
          <p:nvPr/>
        </p:nvSpPr>
        <p:spPr>
          <a:xfrm>
            <a:off x="868680" y="1783080"/>
            <a:ext cx="1737360" cy="32918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bg1"/>
                </a:solidFill>
              </a:rPr>
              <a:t>ONLY 50 SPOTS</a:t>
            </a:r>
            <a:endParaRPr lang="en-US" sz="1100" dirty="0"/>
          </a:p>
        </p:txBody>
      </p:sp>
      <p:sp>
        <p:nvSpPr>
          <p:cNvPr id="5" name="Pioneer Member name"/>
          <p:cNvSpPr txBox="1"/>
          <p:nvPr/>
        </p:nvSpPr>
        <p:spPr>
          <a:xfrm>
            <a:off x="868680" y="22402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Pioneer Member</a:t>
            </a:r>
            <a:endParaRPr lang="en-US" sz="2000" dirty="0"/>
          </a:p>
        </p:txBody>
      </p:sp>
      <p:sp>
        <p:nvSpPr>
          <p:cNvPr id="6" name="Pioneer Member price"/>
          <p:cNvSpPr txBox="1"/>
          <p:nvPr/>
        </p:nvSpPr>
        <p:spPr>
          <a:xfrm>
            <a:off x="868680" y="26974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2"/>
                </a:solidFill>
              </a:rPr>
              <a:t>$0</a:t>
            </a:r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  free for life</a:t>
            </a:r>
            <a:endParaRPr lang="en-US" sz="5400" dirty="0"/>
          </a:p>
        </p:txBody>
      </p:sp>
      <p:sp>
        <p:nvSpPr>
          <p:cNvPr id="7" name="Pioneer Member audience"/>
          <p:cNvSpPr txBox="1"/>
          <p:nvPr/>
        </p:nvSpPr>
        <p:spPr>
          <a:xfrm>
            <a:off x="868680" y="3611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bg2"/>
                </a:solidFill>
              </a:rPr>
              <a:t>The first 50 restaurants approved</a:t>
            </a:r>
            <a:endParaRPr lang="en-US" sz="1400" dirty="0"/>
          </a:p>
        </p:txBody>
      </p:sp>
      <p:sp>
        <p:nvSpPr>
          <p:cNvPr id="8" name="Pioneer Member points"/>
          <p:cNvSpPr txBox="1"/>
          <p:nvPr/>
        </p:nvSpPr>
        <p:spPr>
          <a:xfrm>
            <a:off x="868680" y="406908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No card needed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Every feature included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Spot assigned in order of approval</a:t>
            </a:r>
            <a:endParaRPr lang="en-US" sz="1400" dirty="0"/>
          </a:p>
        </p:txBody>
      </p:sp>
      <p:sp>
        <p:nvSpPr>
          <p:cNvPr id="9" name="Monthly card"/>
          <p:cNvSpPr/>
          <p:nvPr/>
        </p:nvSpPr>
        <p:spPr>
          <a:xfrm>
            <a:off x="4297680" y="1508760"/>
            <a:ext cx="3474720" cy="3840480"/>
          </a:xfrm>
          <a:prstGeom prst="roundRect">
            <a:avLst>
              <a:gd name="adj" fmla="val 394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sp>
        <p:nvSpPr>
          <p:cNvPr id="10" name="Monthly name"/>
          <p:cNvSpPr txBox="1"/>
          <p:nvPr/>
        </p:nvSpPr>
        <p:spPr>
          <a:xfrm>
            <a:off x="4617720" y="22402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Monthly</a:t>
            </a:r>
            <a:endParaRPr lang="en-US" sz="2000" dirty="0"/>
          </a:p>
        </p:txBody>
      </p:sp>
      <p:sp>
        <p:nvSpPr>
          <p:cNvPr id="11" name="Monthly price"/>
          <p:cNvSpPr txBox="1"/>
          <p:nvPr/>
        </p:nvSpPr>
        <p:spPr>
          <a:xfrm>
            <a:off x="4617720" y="26974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$15</a:t>
            </a:r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  per month</a:t>
            </a:r>
            <a:endParaRPr lang="en-US" sz="5400" dirty="0"/>
          </a:p>
        </p:txBody>
      </p:sp>
      <p:sp>
        <p:nvSpPr>
          <p:cNvPr id="12" name="Monthly audience"/>
          <p:cNvSpPr txBox="1"/>
          <p:nvPr/>
        </p:nvSpPr>
        <p:spPr>
          <a:xfrm>
            <a:off x="4617720" y="3611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Any approved restaurant</a:t>
            </a:r>
            <a:endParaRPr lang="en-US" sz="1400" dirty="0"/>
          </a:p>
        </p:txBody>
      </p:sp>
      <p:sp>
        <p:nvSpPr>
          <p:cNvPr id="13" name="Monthly points"/>
          <p:cNvSpPr txBox="1"/>
          <p:nvPr/>
        </p:nvSpPr>
        <p:spPr>
          <a:xfrm>
            <a:off x="4617720" y="406908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Charged monthly in advance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Turn off auto-renewal any time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Every feature included</a:t>
            </a:r>
            <a:endParaRPr lang="en-US" sz="1400" dirty="0"/>
          </a:p>
        </p:txBody>
      </p:sp>
      <p:sp>
        <p:nvSpPr>
          <p:cNvPr id="14" name="Annual card"/>
          <p:cNvSpPr/>
          <p:nvPr/>
        </p:nvSpPr>
        <p:spPr>
          <a:xfrm>
            <a:off x="8046720" y="1508760"/>
            <a:ext cx="3474720" cy="3840480"/>
          </a:xfrm>
          <a:prstGeom prst="roundRect">
            <a:avLst>
              <a:gd name="adj" fmla="val 394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sp>
        <p:nvSpPr>
          <p:cNvPr id="15" name="Annual name"/>
          <p:cNvSpPr txBox="1"/>
          <p:nvPr/>
        </p:nvSpPr>
        <p:spPr>
          <a:xfrm>
            <a:off x="8366760" y="22402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Annual</a:t>
            </a:r>
            <a:endParaRPr lang="en-US" sz="2000" dirty="0"/>
          </a:p>
        </p:txBody>
      </p:sp>
      <p:sp>
        <p:nvSpPr>
          <p:cNvPr id="16" name="Annual price"/>
          <p:cNvSpPr txBox="1"/>
          <p:nvPr/>
        </p:nvSpPr>
        <p:spPr>
          <a:xfrm>
            <a:off x="8366760" y="26974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$150</a:t>
            </a:r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  per year</a:t>
            </a:r>
            <a:endParaRPr lang="en-US" sz="5400" dirty="0"/>
          </a:p>
        </p:txBody>
      </p:sp>
      <p:sp>
        <p:nvSpPr>
          <p:cNvPr id="17" name="Annual audience"/>
          <p:cNvSpPr txBox="1"/>
          <p:nvPr/>
        </p:nvSpPr>
        <p:spPr>
          <a:xfrm>
            <a:off x="8366760" y="3611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Any approved restaurant</a:t>
            </a:r>
            <a:endParaRPr lang="en-US" sz="1400" dirty="0"/>
          </a:p>
        </p:txBody>
      </p:sp>
      <p:sp>
        <p:nvSpPr>
          <p:cNvPr id="18" name="Annual points"/>
          <p:cNvSpPr txBox="1"/>
          <p:nvPr/>
        </p:nvSpPr>
        <p:spPr>
          <a:xfrm>
            <a:off x="8366760" y="406908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Save $30 a year ($12.50/month)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Reminder a week before renewal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Every feature included</a:t>
            </a:r>
            <a:endParaRPr lang="en-US" sz="1400" dirty="0"/>
          </a:p>
        </p:txBody>
      </p:sp>
      <p:sp>
        <p:nvSpPr>
          <p:cNvPr id="19" name="Pricing footnote"/>
          <p:cNvSpPr txBox="1"/>
          <p:nvPr/>
        </p:nvSpPr>
        <p:spPr>
          <a:xfrm>
            <a:off x="548640" y="5577840"/>
            <a:ext cx="9784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You receive the full discounted price of every meal you sell, plus its sales tax. Customers pay a separate ResDish service fee on top. ResDish promotional coupons may reduce the food price as set out in the Restaurant Partner Agreement. Plans are billed in US or Canadian dollars.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Five meals a day can add up to about $1,200 a month</a:t>
            </a:r>
            <a:endParaRPr lang="en-US" sz="36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An illustrative example. Your numbers will differ.</a:t>
            </a:r>
            <a:endParaRPr lang="en-US" sz="1800" dirty="0"/>
          </a:p>
        </p:txBody>
      </p:sp>
      <p:sp>
        <p:nvSpPr>
          <p:cNvPr id="4" name="Assumption 1 value"/>
          <p:cNvSpPr txBox="1"/>
          <p:nvPr/>
        </p:nvSpPr>
        <p:spPr>
          <a:xfrm>
            <a:off x="548640" y="187452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5</a:t>
            </a:r>
            <a:endParaRPr lang="en-US" sz="5400" dirty="0"/>
          </a:p>
        </p:txBody>
      </p:sp>
      <p:sp>
        <p:nvSpPr>
          <p:cNvPr id="5" name="Assumption 1 label"/>
          <p:cNvSpPr txBox="1"/>
          <p:nvPr/>
        </p:nvSpPr>
        <p:spPr>
          <a:xfrm>
            <a:off x="2194560" y="18745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surplus meals sold per day</a:t>
            </a:r>
            <a:endParaRPr lang="en-US" sz="1800" dirty="0"/>
          </a:p>
        </p:txBody>
      </p:sp>
      <p:sp>
        <p:nvSpPr>
          <p:cNvPr id="6" name="Assumption 2 value"/>
          <p:cNvSpPr txBox="1"/>
          <p:nvPr/>
        </p:nvSpPr>
        <p:spPr>
          <a:xfrm>
            <a:off x="548640" y="310896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$8</a:t>
            </a:r>
            <a:endParaRPr lang="en-US" sz="5400" dirty="0"/>
          </a:p>
        </p:txBody>
      </p:sp>
      <p:sp>
        <p:nvSpPr>
          <p:cNvPr id="7" name="Assumption 2 label"/>
          <p:cNvSpPr txBox="1"/>
          <p:nvPr/>
        </p:nvSpPr>
        <p:spPr>
          <a:xfrm>
            <a:off x="2194560" y="31089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average discounted price</a:t>
            </a:r>
            <a:endParaRPr lang="en-US" sz="1800" dirty="0"/>
          </a:p>
        </p:txBody>
      </p:sp>
      <p:sp>
        <p:nvSpPr>
          <p:cNvPr id="8" name="Assumption 3 value"/>
          <p:cNvSpPr txBox="1"/>
          <p:nvPr/>
        </p:nvSpPr>
        <p:spPr>
          <a:xfrm>
            <a:off x="548640" y="434340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30</a:t>
            </a:r>
            <a:endParaRPr lang="en-US" sz="5400" dirty="0"/>
          </a:p>
        </p:txBody>
      </p:sp>
      <p:sp>
        <p:nvSpPr>
          <p:cNvPr id="9" name="Assumption 3 label"/>
          <p:cNvSpPr txBox="1"/>
          <p:nvPr/>
        </p:nvSpPr>
        <p:spPr>
          <a:xfrm>
            <a:off x="2194560" y="43434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days open per month</a:t>
            </a:r>
            <a:endParaRPr lang="en-US" sz="1800" dirty="0"/>
          </a:p>
        </p:txBody>
      </p:sp>
      <p:graphicFrame>
        <p:nvGraphicFramePr>
          <p:cNvPr id="10" name="Revenue chart" descr=""/>
          <p:cNvGraphicFramePr/>
          <p:nvPr/>
        </p:nvGraphicFramePr>
        <p:xfrm>
          <a:off x="5760720" y="1737360"/>
          <a:ext cx="585216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Illustration note"/>
          <p:cNvSpPr txBox="1"/>
          <p:nvPr/>
        </p:nvSpPr>
        <p:spPr>
          <a:xfrm>
            <a:off x="548640" y="56235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Pioneer Members pay $0, so every dollar is recovered revenue. Figures are for illustration only, not a forecast or guarantee of sales.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Built so you never lose out on an order</a:t>
            </a:r>
            <a:endParaRPr lang="en-US" sz="3600" dirty="0"/>
          </a:p>
        </p:txBody>
      </p:sp>
      <p:sp>
        <p:nvSpPr>
          <p:cNvPr id="3" name="Trust 1 card"/>
          <p:cNvSpPr/>
          <p:nvPr/>
        </p:nvSpPr>
        <p:spPr>
          <a:xfrm>
            <a:off x="548640" y="1508760"/>
            <a:ext cx="3474720" cy="1965960"/>
          </a:xfrm>
          <a:prstGeom prst="roundRect">
            <a:avLst>
              <a:gd name="adj" fmla="val 697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sp>
        <p:nvSpPr>
          <p:cNvPr id="4" name="Trust 1 circle"/>
          <p:cNvSpPr/>
          <p:nvPr/>
        </p:nvSpPr>
        <p:spPr>
          <a:xfrm>
            <a:off x="822960" y="178308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5" name="Trust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1943100"/>
            <a:ext cx="320040" cy="320040"/>
          </a:xfrm>
          <a:prstGeom prst="rect">
            <a:avLst/>
          </a:prstGeom>
        </p:spPr>
      </p:pic>
      <p:sp>
        <p:nvSpPr>
          <p:cNvPr id="6" name="Trust 1 title"/>
          <p:cNvSpPr txBox="1"/>
          <p:nvPr/>
        </p:nvSpPr>
        <p:spPr>
          <a:xfrm>
            <a:off x="1600200" y="17830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Card hold, then charge</a:t>
            </a:r>
            <a:endParaRPr lang="en-US" sz="1800" dirty="0"/>
          </a:p>
        </p:txBody>
      </p:sp>
      <p:sp>
        <p:nvSpPr>
          <p:cNvPr id="7" name="Trust 1 text"/>
          <p:cNvSpPr txBox="1"/>
          <p:nvPr/>
        </p:nvSpPr>
        <p:spPr>
          <a:xfrm>
            <a:off x="822960" y="251460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The card is held when the customer orders and charged at pickup.</a:t>
            </a:r>
            <a:endParaRPr lang="en-US" sz="1400" dirty="0"/>
          </a:p>
        </p:txBody>
      </p:sp>
      <p:sp>
        <p:nvSpPr>
          <p:cNvPr id="8" name="Trust 2 card"/>
          <p:cNvSpPr/>
          <p:nvPr/>
        </p:nvSpPr>
        <p:spPr>
          <a:xfrm>
            <a:off x="4297680" y="1508760"/>
            <a:ext cx="3474720" cy="1965960"/>
          </a:xfrm>
          <a:prstGeom prst="roundRect">
            <a:avLst>
              <a:gd name="adj" fmla="val 697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rust 2 circle"/>
          <p:cNvSpPr/>
          <p:nvPr/>
        </p:nvSpPr>
        <p:spPr>
          <a:xfrm>
            <a:off x="4572000" y="178308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0" name="Trust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020" y="1943100"/>
            <a:ext cx="320040" cy="320040"/>
          </a:xfrm>
          <a:prstGeom prst="rect">
            <a:avLst/>
          </a:prstGeom>
        </p:spPr>
      </p:pic>
      <p:sp>
        <p:nvSpPr>
          <p:cNvPr id="11" name="Trust 2 title"/>
          <p:cNvSpPr txBox="1"/>
          <p:nvPr/>
        </p:nvSpPr>
        <p:spPr>
          <a:xfrm>
            <a:off x="5349240" y="17830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Pickup PIN</a:t>
            </a:r>
            <a:endParaRPr lang="en-US" sz="1800" dirty="0"/>
          </a:p>
        </p:txBody>
      </p:sp>
      <p:sp>
        <p:nvSpPr>
          <p:cNvPr id="12" name="Trust 2 text"/>
          <p:cNvSpPr txBox="1"/>
          <p:nvPr/>
        </p:nvSpPr>
        <p:spPr>
          <a:xfrm>
            <a:off x="4572000" y="251460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Every order has its own 4-digit PIN, so the right food goes to the right person.</a:t>
            </a:r>
            <a:endParaRPr lang="en-US" sz="1400" dirty="0"/>
          </a:p>
        </p:txBody>
      </p:sp>
      <p:sp>
        <p:nvSpPr>
          <p:cNvPr id="13" name="Trust 3 card"/>
          <p:cNvSpPr/>
          <p:nvPr/>
        </p:nvSpPr>
        <p:spPr>
          <a:xfrm>
            <a:off x="8046720" y="1508760"/>
            <a:ext cx="3474720" cy="1965960"/>
          </a:xfrm>
          <a:prstGeom prst="roundRect">
            <a:avLst>
              <a:gd name="adj" fmla="val 697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sp>
        <p:nvSpPr>
          <p:cNvPr id="14" name="Trust 3 circle"/>
          <p:cNvSpPr/>
          <p:nvPr/>
        </p:nvSpPr>
        <p:spPr>
          <a:xfrm>
            <a:off x="8321040" y="178308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5" name="Trust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1060" y="1943100"/>
            <a:ext cx="320040" cy="320040"/>
          </a:xfrm>
          <a:prstGeom prst="rect">
            <a:avLst/>
          </a:prstGeom>
        </p:spPr>
      </p:pic>
      <p:sp>
        <p:nvSpPr>
          <p:cNvPr id="16" name="Trust 3 title"/>
          <p:cNvSpPr txBox="1"/>
          <p:nvPr/>
        </p:nvSpPr>
        <p:spPr>
          <a:xfrm>
            <a:off x="9098280" y="17830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Real customers</a:t>
            </a:r>
            <a:endParaRPr lang="en-US" sz="1800" dirty="0"/>
          </a:p>
        </p:txBody>
      </p:sp>
      <p:sp>
        <p:nvSpPr>
          <p:cNvPr id="17" name="Trust 3 text"/>
          <p:cNvSpPr txBox="1"/>
          <p:nvPr/>
        </p:nvSpPr>
        <p:spPr>
          <a:xfrm>
            <a:off x="8321040" y="251460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Fake and throwaway emails are refused. Repeat no-shows are suspended, then banned.</a:t>
            </a:r>
            <a:endParaRPr lang="en-US" sz="1400" dirty="0"/>
          </a:p>
        </p:txBody>
      </p:sp>
      <p:sp>
        <p:nvSpPr>
          <p:cNvPr id="18" name="Trust 4 card"/>
          <p:cNvSpPr/>
          <p:nvPr/>
        </p:nvSpPr>
        <p:spPr>
          <a:xfrm>
            <a:off x="548640" y="3749040"/>
            <a:ext cx="3474720" cy="1965960"/>
          </a:xfrm>
          <a:prstGeom prst="roundRect">
            <a:avLst>
              <a:gd name="adj" fmla="val 697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sp>
        <p:nvSpPr>
          <p:cNvPr id="19" name="Trust 4 circle"/>
          <p:cNvSpPr/>
          <p:nvPr/>
        </p:nvSpPr>
        <p:spPr>
          <a:xfrm>
            <a:off x="822960" y="402336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0" name="Trust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" y="4183380"/>
            <a:ext cx="320040" cy="320040"/>
          </a:xfrm>
          <a:prstGeom prst="rect">
            <a:avLst/>
          </a:prstGeom>
        </p:spPr>
      </p:pic>
      <p:sp>
        <p:nvSpPr>
          <p:cNvPr id="21" name="Trust 4 title"/>
          <p:cNvSpPr txBox="1"/>
          <p:nvPr/>
        </p:nvSpPr>
        <p:spPr>
          <a:xfrm>
            <a:off x="1600200" y="40233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Taxes handled</a:t>
            </a:r>
            <a:endParaRPr lang="en-US" sz="1800" dirty="0"/>
          </a:p>
        </p:txBody>
      </p:sp>
      <p:sp>
        <p:nvSpPr>
          <p:cNvPr id="22" name="Trust 4 text"/>
          <p:cNvSpPr txBox="1"/>
          <p:nvPr/>
        </p:nvSpPr>
        <p:spPr>
          <a:xfrm>
            <a:off x="822960" y="475488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Sales tax is set from your address and shown on every receipt and report.</a:t>
            </a:r>
            <a:endParaRPr lang="en-US" sz="1400" dirty="0"/>
          </a:p>
        </p:txBody>
      </p:sp>
      <p:sp>
        <p:nvSpPr>
          <p:cNvPr id="23" name="Trust 5 card"/>
          <p:cNvSpPr/>
          <p:nvPr/>
        </p:nvSpPr>
        <p:spPr>
          <a:xfrm>
            <a:off x="4297680" y="3749040"/>
            <a:ext cx="3474720" cy="1965960"/>
          </a:xfrm>
          <a:prstGeom prst="roundRect">
            <a:avLst>
              <a:gd name="adj" fmla="val 697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sp>
        <p:nvSpPr>
          <p:cNvPr id="24" name="Trust 5 circle"/>
          <p:cNvSpPr/>
          <p:nvPr/>
        </p:nvSpPr>
        <p:spPr>
          <a:xfrm>
            <a:off x="4572000" y="402336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5" name="Trust 5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2020" y="4183380"/>
            <a:ext cx="320040" cy="320040"/>
          </a:xfrm>
          <a:prstGeom prst="rect">
            <a:avLst/>
          </a:prstGeom>
        </p:spPr>
      </p:pic>
      <p:sp>
        <p:nvSpPr>
          <p:cNvPr id="26" name="Trust 5 title"/>
          <p:cNvSpPr txBox="1"/>
          <p:nvPr/>
        </p:nvSpPr>
        <p:spPr>
          <a:xfrm>
            <a:off x="5349240" y="40233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We handle support</a:t>
            </a:r>
            <a:endParaRPr lang="en-US" sz="1800" dirty="0"/>
          </a:p>
        </p:txBody>
      </p:sp>
      <p:sp>
        <p:nvSpPr>
          <p:cNvPr id="27" name="Trust 5 text"/>
          <p:cNvSpPr txBox="1"/>
          <p:nvPr/>
        </p:nvSpPr>
        <p:spPr>
          <a:xfrm>
            <a:off x="4572000" y="475488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Customer questions, refunds and credit are handled by ResDish.</a:t>
            </a:r>
            <a:endParaRPr lang="en-US" sz="1400" dirty="0"/>
          </a:p>
        </p:txBody>
      </p:sp>
      <p:sp>
        <p:nvSpPr>
          <p:cNvPr id="28" name="Trust 6 card"/>
          <p:cNvSpPr/>
          <p:nvPr/>
        </p:nvSpPr>
        <p:spPr>
          <a:xfrm>
            <a:off x="8046720" y="3749040"/>
            <a:ext cx="3474720" cy="1965960"/>
          </a:xfrm>
          <a:prstGeom prst="roundRect">
            <a:avLst>
              <a:gd name="adj" fmla="val 697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sp>
        <p:nvSpPr>
          <p:cNvPr id="29" name="Trust 6 circle"/>
          <p:cNvSpPr/>
          <p:nvPr/>
        </p:nvSpPr>
        <p:spPr>
          <a:xfrm>
            <a:off x="8321040" y="402336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30" name="Trust 6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1060" y="4183380"/>
            <a:ext cx="320040" cy="320040"/>
          </a:xfrm>
          <a:prstGeom prst="rect">
            <a:avLst/>
          </a:prstGeom>
        </p:spPr>
      </p:pic>
      <p:sp>
        <p:nvSpPr>
          <p:cNvPr id="31" name="Trust 6 title"/>
          <p:cNvSpPr txBox="1"/>
          <p:nvPr/>
        </p:nvSpPr>
        <p:spPr>
          <a:xfrm>
            <a:off x="9098280" y="40233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US and Canada</a:t>
            </a:r>
            <a:endParaRPr lang="en-US" sz="1800" dirty="0"/>
          </a:p>
        </p:txBody>
      </p:sp>
      <p:sp>
        <p:nvSpPr>
          <p:cNvPr id="32" name="Trust 6 text"/>
          <p:cNvSpPr txBox="1"/>
          <p:nvPr/>
        </p:nvSpPr>
        <p:spPr>
          <a:xfrm>
            <a:off x="8321040" y="475488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Customers pay in US or Canadian dollars, by the restaurant's country.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48640"/>
            <a:ext cx="2377440" cy="685800"/>
          </a:xfrm>
          <a:prstGeom prst="rect">
            <a:avLst/>
          </a:prstGeom>
        </p:spPr>
      </p:pic>
      <p:sp>
        <p:nvSpPr>
          <p:cNvPr id="3" name="Closing headline"/>
          <p:cNvSpPr txBox="1"/>
          <p:nvPr/>
        </p:nvSpPr>
        <p:spPr>
          <a:xfrm>
            <a:off x="640080" y="16002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Start selling this week</a:t>
            </a:r>
            <a:endParaRPr lang="en-US" sz="4400" dirty="0"/>
          </a:p>
        </p:txBody>
      </p:sp>
      <p:sp>
        <p:nvSpPr>
          <p:cNvPr id="4" name="Next 1 number"/>
          <p:cNvSpPr txBox="1"/>
          <p:nvPr/>
        </p:nvSpPr>
        <p:spPr>
          <a:xfrm>
            <a:off x="640080" y="26974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Next 1 text"/>
          <p:cNvSpPr txBox="1"/>
          <p:nvPr/>
        </p:nvSpPr>
        <p:spPr>
          <a:xfrm>
            <a:off x="1371600" y="2624328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Sign up online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Enter your restaurant details and accept the partner agreement. A few minutes.</a:t>
            </a:r>
            <a:endParaRPr lang="en-US" sz="1800" dirty="0"/>
          </a:p>
        </p:txBody>
      </p:sp>
      <p:sp>
        <p:nvSpPr>
          <p:cNvPr id="6" name="Next 2 number"/>
          <p:cNvSpPr txBox="1"/>
          <p:nvPr/>
        </p:nvSpPr>
        <p:spPr>
          <a:xfrm>
            <a:off x="640080" y="35661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7" name="Next 2 text"/>
          <p:cNvSpPr txBox="1"/>
          <p:nvPr/>
        </p:nvSpPr>
        <p:spPr>
          <a:xfrm>
            <a:off x="1371600" y="3493008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Get approved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Usually within one business day. Set up your menu meanwhile.</a:t>
            </a:r>
            <a:endParaRPr lang="en-US" sz="1800" dirty="0"/>
          </a:p>
        </p:txBody>
      </p:sp>
      <p:sp>
        <p:nvSpPr>
          <p:cNvPr id="8" name="Next 3 number"/>
          <p:cNvSpPr txBox="1"/>
          <p:nvPr/>
        </p:nvSpPr>
        <p:spPr>
          <a:xfrm>
            <a:off x="640080" y="44348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9" name="Next 3 text"/>
          <p:cNvSpPr txBox="1"/>
          <p:nvPr/>
        </p:nvSpPr>
        <p:spPr>
          <a:xfrm>
            <a:off x="1371600" y="4361688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Connect payouts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Link your bank account through Stripe, open the kiosk on a tablet.</a:t>
            </a:r>
            <a:endParaRPr lang="en-US" sz="1800" dirty="0"/>
          </a:p>
        </p:txBody>
      </p:sp>
      <p:sp>
        <p:nvSpPr>
          <p:cNvPr id="10" name="Next 4 number"/>
          <p:cNvSpPr txBox="1"/>
          <p:nvPr/>
        </p:nvSpPr>
        <p:spPr>
          <a:xfrm>
            <a:off x="640080" y="53035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1" name="Next 4 text"/>
          <p:cNvSpPr txBox="1"/>
          <p:nvPr/>
        </p:nvSpPr>
        <p:spPr>
          <a:xfrm>
            <a:off x="1371600" y="5230368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Post your first dish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And listen for the bell.</a:t>
            </a:r>
            <a:endParaRPr lang="en-US" sz="1800" dirty="0"/>
          </a:p>
        </p:txBody>
      </p:sp>
      <p:sp>
        <p:nvSpPr>
          <p:cNvPr id="12" name="Offer card"/>
          <p:cNvSpPr/>
          <p:nvPr/>
        </p:nvSpPr>
        <p:spPr>
          <a:xfrm>
            <a:off x="6949440" y="1600200"/>
            <a:ext cx="4663440" cy="4206240"/>
          </a:xfrm>
          <a:prstGeom prst="roundRect">
            <a:avLst>
              <a:gd name="adj" fmla="val 4348"/>
            </a:avLst>
          </a:prstGeom>
          <a:solidFill>
            <a:schemeClr val="accent6"/>
          </a:solidFill>
          <a:ln/>
        </p:spPr>
      </p:sp>
      <p:sp>
        <p:nvSpPr>
          <p:cNvPr id="13" name="Offer circle"/>
          <p:cNvSpPr/>
          <p:nvPr/>
        </p:nvSpPr>
        <p:spPr>
          <a:xfrm>
            <a:off x="7315200" y="196596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4" name="Offer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2194560"/>
            <a:ext cx="457200" cy="457200"/>
          </a:xfrm>
          <a:prstGeom prst="rect">
            <a:avLst/>
          </a:prstGeom>
        </p:spPr>
      </p:pic>
      <p:sp>
        <p:nvSpPr>
          <p:cNvPr id="15" name="Offer title"/>
          <p:cNvSpPr txBox="1"/>
          <p:nvPr/>
        </p:nvSpPr>
        <p:spPr>
          <a:xfrm>
            <a:off x="7315200" y="306324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Become a Pioneer Member</a:t>
            </a:r>
            <a:endParaRPr lang="en-US" sz="2600" dirty="0"/>
          </a:p>
        </p:txBody>
      </p:sp>
      <p:sp>
        <p:nvSpPr>
          <p:cNvPr id="16" name="Offer text"/>
          <p:cNvSpPr txBox="1"/>
          <p:nvPr/>
        </p:nvSpPr>
        <p:spPr>
          <a:xfrm>
            <a:off x="7315200" y="361188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The first 50 restaurants approved use ResDish free for life. No card, no commission, every feature.</a:t>
            </a:r>
            <a:endParaRPr lang="en-US" sz="1600" dirty="0"/>
          </a:p>
        </p:txBody>
      </p:sp>
      <p:sp>
        <p:nvSpPr>
          <p:cNvPr id="17" name="Contact"/>
          <p:cNvSpPr txBox="1"/>
          <p:nvPr/>
        </p:nvSpPr>
        <p:spPr>
          <a:xfrm>
            <a:off x="7315200" y="475488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u="sng" dirty="0">
                <a:solidFill>
                  <a:schemeClr val="accent1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www.bite-wise.org</a:t>
            </a:r>
            <a:endParaRPr lang="en-US" sz="1800" dirty="0"/>
          </a:p>
          <a:p>
            <a:pPr indent="0" marL="0">
              <a:buNone/>
            </a:pPr>
            <a:r>
              <a:rPr lang="en-US" sz="1800" b="1" u="sng" dirty="0">
                <a:solidFill>
                  <a:schemeClr val="accent1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support@bite-wise.org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sDish">
  <a:themeElements>
    <a:clrScheme name="ResDish">
      <a:dk1>
        <a:srgbClr val="2A1A0E"/>
      </a:dk1>
      <a:lt1>
        <a:srgbClr val="FFFFFF"/>
      </a:lt1>
      <a:dk2>
        <a:srgbClr val="5B4636"/>
      </a:dk2>
      <a:lt2>
        <a:srgbClr val="FFF4E8"/>
      </a:lt2>
      <a:accent1>
        <a:srgbClr val="EA580C"/>
      </a:accent1>
      <a:accent2>
        <a:srgbClr val="4E9F3D"/>
      </a:accent2>
      <a:accent3>
        <a:srgbClr val="FFEDD5"/>
      </a:accent3>
      <a:accent4>
        <a:srgbClr val="E6F4DF"/>
      </a:accent4>
      <a:accent5>
        <a:srgbClr val="C2410C"/>
      </a:accent5>
      <a:accent6>
        <a:srgbClr val="3A2616"/>
      </a:accent6>
      <a:hlink>
        <a:srgbClr val="C2410C"/>
      </a:hlink>
      <a:folHlink>
        <a:srgbClr val="7C2D12"/>
      </a:folHlink>
    </a:clrScheme>
    <a:fontScheme name="ResDish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ResDish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ResDish for Restaurants</dc:title>
  <dc:subject>PptxGenJS Presentation</dc:subject>
  <dc:creator>ResDish</dc:creator>
  <cp:lastModifiedBy>ResDish</cp:lastModifiedBy>
  <cp:revision>1</cp:revision>
  <dcterms:created xsi:type="dcterms:W3CDTF">2026-10-16T19:41:11Z</dcterms:created>
  <dcterms:modified xsi:type="dcterms:W3CDTF">2026-10-16T19:41:11Z</dcterms:modified>
</cp:coreProperties>
</file>