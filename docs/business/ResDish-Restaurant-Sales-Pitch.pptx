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152fb30-b080-c762-a5c9-70dc93183d0a}">
          <p14:sldIdLst>
            <p14:sldId id="256"/>
          </p14:sldIdLst>
        </p14:section>
        <p14:section name="Why ResDish" id="{5aa87e4d-7286-0c21-3e70-2e013938a318}">
          <p14:sldIdLst>
            <p14:sldId id="257"/>
            <p14:sldId id="258"/>
          </p14:sldIdLst>
        </p14:section>
        <p14:section name="The product" id="{2decd14f-7656-6aca-d46b-3853975d60ea}">
          <p14:sldIdLst>
            <p14:sldId id="259"/>
            <p14:sldId id="260"/>
            <p14:sldId id="261"/>
          </p14:sldIdLst>
        </p14:section>
        <p14:section name="Pricing" id="{9a0a6ceb-e2d6-54f9-4184-72286632d6bc}">
          <p14:sldIdLst>
            <p14:sldId id="262"/>
            <p14:sldId id="263"/>
          </p14:sldIdLst>
        </p14:section>
        <p14:section name="Trust" id="{4fdddcd0-8a1a-86cc-eb6c-9f452d7ff09f}">
          <p14:sldIdLst>
            <p14:sldId id="264"/>
          </p14:sldIdLst>
        </p14:section>
        <p14:section name="Next steps" id="{2fef5937-6c2e-8ea7-f0c9-96f5eec7638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A1A0E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2A1A0E"/>
                </a:solidFill>
                <a:latin typeface="+mn-lt"/>
              </a:rPr>
              <a:t>Per month, in dollars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4E9F3D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A1A0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9F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Food sales recovered</c:v>
                  </c:pt>
                  <c:pt idx="1">
                    <c:v>ResDish monthly plan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1200</c:v>
                </c:pt>
                <c:pt idx="1">
                  <c:v>15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600" u="none">
                  <a:solidFill>
                    <a:srgbClr val="2A1A0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46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ResDish turns food you already paid to make into money, instead of waste. Mention the Pioneer offer early: the first 50 approved restaurants use it free for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how often each of these happens in their kitchen. Most restaurants recognise all three. The point: this food is already paid for; the only question is whether it earns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ResDish is a local marketplace. Restaurants post surplus dishes at a discount; customers nearby buy them on their phone and pick them up. It works in the United States and Canada, in US or Canadian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real order. Stress that the restaurant is never left holding an unpaid order: the card is held at ordering and charged only when your staff confirm the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dashboard live if you can, or play the short restaurant video from the website. Point out the discard timer: food is only sold while it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Equipment objection: none needed. Any tablet or phone with a browser works. Bookkeeping objection: every payout has an invoice number, and the daily report exports to PDF and CSV for your accountant. Sales tax is set automatically from your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 commission. The restaurant keeps the full discounted price of the food; ResDish earns a service fee from the customer and the plan fee. Then close on urgency: Pioneer spots are limited to the first 50 approved restaurants. Be upfront that ResDish coupons can come out of the food price, as the agreement explains.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meals x $8 x 30 days = $1,200 a month back from food that would have been thrown away, against a $15 plan, or nothing for a Pioneer Member. Ask the owner to plug in their own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risk objections here: unpaid orders (card hold), wrong person picking up (PIN), time-wasters (no-show suspensions and bans), tax compliance (automatic sales tax), and customer service (ResDish handles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offer to sign them up on the spot, on their phone or yours. Remind them Pioneer spots go in order of approval, so signing up today secures a free plan for life while spots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RescueBites/public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27648"/>
            <a:ext cx="114300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RescueBites/public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27648"/>
            <a:ext cx="114300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te-wise.org" TargetMode="External"/><Relationship Id="rId4" Type="http://schemas.openxmlformats.org/officeDocument/2006/relationships/hyperlink" Target="mailto:support@bite-wise.org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377440" cy="6858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640080" y="18288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Turn your surplus food into revenue</a:t>
            </a:r>
            <a:endParaRPr lang="en-US" sz="4800" dirty="0"/>
          </a:p>
        </p:txBody>
      </p:sp>
      <p:sp>
        <p:nvSpPr>
          <p:cNvPr id="4" name="Tagline"/>
          <p:cNvSpPr txBox="1"/>
          <p:nvPr/>
        </p:nvSpPr>
        <p:spPr>
          <a:xfrm>
            <a:off x="640080" y="3794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Sell wrong orders, no-shows and end-of-day extras to customers nearby, instead of throwing them away. No commission on your food sales.</a:t>
            </a:r>
            <a:endParaRPr lang="en-US" sz="1800" dirty="0"/>
          </a:p>
        </p:txBody>
      </p:sp>
      <p:sp>
        <p:nvSpPr>
          <p:cNvPr id="5" name="Offer pill"/>
          <p:cNvSpPr/>
          <p:nvPr/>
        </p:nvSpPr>
        <p:spPr>
          <a:xfrm>
            <a:off x="640080" y="5120640"/>
            <a:ext cx="4846320" cy="685800"/>
          </a:xfrm>
          <a:prstGeom prst="roundRect">
            <a:avLst>
              <a:gd name="adj" fmla="val 49333"/>
            </a:avLst>
          </a:prstGeom>
          <a:solidFill>
            <a:schemeClr val="accent2"/>
          </a:solidFill>
          <a:ln/>
        </p:spPr>
      </p:sp>
      <p:sp>
        <p:nvSpPr>
          <p:cNvPr id="6" name="Offer text"/>
          <p:cNvSpPr txBox="1"/>
          <p:nvPr/>
        </p:nvSpPr>
        <p:spPr>
          <a:xfrm>
            <a:off x="640080" y="5120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🌱 </a:t>
            </a:r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First 50 restaurants: free for life</a:t>
            </a:r>
            <a:endParaRPr lang="en-US" sz="1800" dirty="0"/>
          </a:p>
        </p:txBody>
      </p:sp>
      <p:sp>
        <p:nvSpPr>
          <p:cNvPr id="7" name="Dashboard screenshot frame"/>
          <p:cNvSpPr/>
          <p:nvPr/>
        </p:nvSpPr>
        <p:spPr>
          <a:xfrm>
            <a:off x="6848856" y="1682496"/>
            <a:ext cx="4864608" cy="2784348"/>
          </a:xfrm>
          <a:prstGeom prst="roundRect">
            <a:avLst>
              <a:gd name="adj" fmla="val 394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Dashboard screenshot" descr="/tmp/claude-0/-home-user-RescueBites/e2cfd2a4-15d3-55a4-8cb5-5a18f8cff6b8/scratchpad/deck/frames/r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754880" cy="2674620"/>
          </a:xfrm>
          <a:prstGeom prst="rect">
            <a:avLst/>
          </a:prstGeom>
        </p:spPr>
      </p:pic>
      <p:sp>
        <p:nvSpPr>
          <p:cNvPr id="9" name="Screenshot caption"/>
          <p:cNvSpPr txBox="1"/>
          <p:nvPr/>
        </p:nvSpPr>
        <p:spPr>
          <a:xfrm>
            <a:off x="6903720" y="4526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Your restaurant dashboard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kitchen ends the day with good food it can't sell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You already paid for the ingredients and the labour. Throwing it out turns that cost into a total loss.</a:t>
            </a:r>
            <a:endParaRPr lang="en-US" sz="1800" dirty="0"/>
          </a:p>
        </p:txBody>
      </p:sp>
      <p:sp>
        <p:nvSpPr>
          <p:cNvPr id="4" name="Pain 1 card"/>
          <p:cNvSpPr/>
          <p:nvPr/>
        </p:nvSpPr>
        <p:spPr>
          <a:xfrm>
            <a:off x="548640" y="201168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5" name="Pain 1 circle"/>
          <p:cNvSpPr/>
          <p:nvPr/>
        </p:nvSpPr>
        <p:spPr>
          <a:xfrm>
            <a:off x="91440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560320"/>
            <a:ext cx="457200" cy="457200"/>
          </a:xfrm>
          <a:prstGeom prst="rect">
            <a:avLst/>
          </a:prstGeom>
        </p:spPr>
      </p:pic>
      <p:sp>
        <p:nvSpPr>
          <p:cNvPr id="7" name="Pain 1 title"/>
          <p:cNvSpPr txBox="1"/>
          <p:nvPr/>
        </p:nvSpPr>
        <p:spPr>
          <a:xfrm>
            <a:off x="91440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Wrong orders</a:t>
            </a:r>
            <a:endParaRPr lang="en-US" sz="2200" dirty="0"/>
          </a:p>
        </p:txBody>
      </p:sp>
      <p:sp>
        <p:nvSpPr>
          <p:cNvPr id="8" name="Pain 1 text"/>
          <p:cNvSpPr txBox="1"/>
          <p:nvPr/>
        </p:nvSpPr>
        <p:spPr>
          <a:xfrm>
            <a:off x="91440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dish made with the wrong ingredient, or the wrong size, that the customer sent back.</a:t>
            </a:r>
            <a:endParaRPr lang="en-US" sz="1600" dirty="0"/>
          </a:p>
        </p:txBody>
      </p:sp>
      <p:sp>
        <p:nvSpPr>
          <p:cNvPr id="9" name="Pain 2 card"/>
          <p:cNvSpPr/>
          <p:nvPr/>
        </p:nvSpPr>
        <p:spPr>
          <a:xfrm>
            <a:off x="4297680" y="201168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10" name="Pain 2 circle"/>
          <p:cNvSpPr/>
          <p:nvPr/>
        </p:nvSpPr>
        <p:spPr>
          <a:xfrm>
            <a:off x="466344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57200" cy="457200"/>
          </a:xfrm>
          <a:prstGeom prst="rect">
            <a:avLst/>
          </a:prstGeom>
        </p:spPr>
      </p:pic>
      <p:sp>
        <p:nvSpPr>
          <p:cNvPr id="12" name="Pain 2 title"/>
          <p:cNvSpPr txBox="1"/>
          <p:nvPr/>
        </p:nvSpPr>
        <p:spPr>
          <a:xfrm>
            <a:off x="466344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No-shows and cancels</a:t>
            </a:r>
            <a:endParaRPr lang="en-US" sz="2200" dirty="0"/>
          </a:p>
        </p:txBody>
      </p:sp>
      <p:sp>
        <p:nvSpPr>
          <p:cNvPr id="13" name="Pain 2 text"/>
          <p:cNvSpPr txBox="1"/>
          <p:nvPr/>
        </p:nvSpPr>
        <p:spPr>
          <a:xfrm>
            <a:off x="466344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Delivery drivers who cancel, and pickup orders nobody comes for.</a:t>
            </a:r>
            <a:endParaRPr lang="en-US" sz="1600" dirty="0"/>
          </a:p>
        </p:txBody>
      </p:sp>
      <p:sp>
        <p:nvSpPr>
          <p:cNvPr id="14" name="Pain 3 card"/>
          <p:cNvSpPr/>
          <p:nvPr/>
        </p:nvSpPr>
        <p:spPr>
          <a:xfrm>
            <a:off x="8046720" y="201168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15" name="Pain 3 circle"/>
          <p:cNvSpPr/>
          <p:nvPr/>
        </p:nvSpPr>
        <p:spPr>
          <a:xfrm>
            <a:off x="841248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560320"/>
            <a:ext cx="457200" cy="457200"/>
          </a:xfrm>
          <a:prstGeom prst="rect">
            <a:avLst/>
          </a:prstGeom>
        </p:spPr>
      </p:pic>
      <p:sp>
        <p:nvSpPr>
          <p:cNvPr id="17" name="Pain 3 title"/>
          <p:cNvSpPr txBox="1"/>
          <p:nvPr/>
        </p:nvSpPr>
        <p:spPr>
          <a:xfrm>
            <a:off x="84124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Closing-time extras</a:t>
            </a:r>
            <a:endParaRPr lang="en-US" sz="2200" dirty="0"/>
          </a:p>
        </p:txBody>
      </p:sp>
      <p:sp>
        <p:nvSpPr>
          <p:cNvPr id="18" name="Pain 3 text"/>
          <p:cNvSpPr txBox="1"/>
          <p:nvPr/>
        </p:nvSpPr>
        <p:spPr>
          <a:xfrm>
            <a:off x="841248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last trays and portions you made too much of, when demand was lower than expected.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ResDish sells it to people nearby, within the hour</a:t>
            </a:r>
            <a:endParaRPr lang="en-US" sz="3600" dirty="0"/>
          </a:p>
        </p:txBody>
      </p:sp>
      <p:sp>
        <p:nvSpPr>
          <p:cNvPr id="3" name="Benefit 1 circle"/>
          <p:cNvSpPr/>
          <p:nvPr/>
        </p:nvSpPr>
        <p:spPr>
          <a:xfrm>
            <a:off x="548640" y="160020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Benefi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817370"/>
            <a:ext cx="434340" cy="434340"/>
          </a:xfrm>
          <a:prstGeom prst="rect">
            <a:avLst/>
          </a:prstGeom>
        </p:spPr>
      </p:pic>
      <p:sp>
        <p:nvSpPr>
          <p:cNvPr id="5" name="Benefit 1 title"/>
          <p:cNvSpPr txBox="1"/>
          <p:nvPr/>
        </p:nvSpPr>
        <p:spPr>
          <a:xfrm>
            <a:off x="1645920" y="15819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Recover revenue</a:t>
            </a:r>
            <a:endParaRPr lang="en-US" sz="2200" dirty="0"/>
          </a:p>
        </p:txBody>
      </p:sp>
      <p:sp>
        <p:nvSpPr>
          <p:cNvPr id="6" name="Benefit 1 text"/>
          <p:cNvSpPr txBox="1"/>
          <p:nvPr/>
        </p:nvSpPr>
        <p:spPr>
          <a:xfrm>
            <a:off x="1645920" y="2011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Earn from food that would otherwise go in the bin.</a:t>
            </a:r>
            <a:endParaRPr lang="en-US" sz="1600" dirty="0"/>
          </a:p>
        </p:txBody>
      </p:sp>
      <p:sp>
        <p:nvSpPr>
          <p:cNvPr id="7" name="Benefit 2 circle"/>
          <p:cNvSpPr/>
          <p:nvPr/>
        </p:nvSpPr>
        <p:spPr>
          <a:xfrm>
            <a:off x="548640" y="30632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Benefi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" y="3280410"/>
            <a:ext cx="434340" cy="434340"/>
          </a:xfrm>
          <a:prstGeom prst="rect">
            <a:avLst/>
          </a:prstGeom>
        </p:spPr>
      </p:pic>
      <p:sp>
        <p:nvSpPr>
          <p:cNvPr id="9" name="Benefit 2 title"/>
          <p:cNvSpPr txBox="1"/>
          <p:nvPr/>
        </p:nvSpPr>
        <p:spPr>
          <a:xfrm>
            <a:off x="1645920" y="3044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Win new regulars</a:t>
            </a:r>
            <a:endParaRPr lang="en-US" sz="2200" dirty="0"/>
          </a:p>
        </p:txBody>
      </p:sp>
      <p:sp>
        <p:nvSpPr>
          <p:cNvPr id="10" name="Benefit 2 text"/>
          <p:cNvSpPr txBox="1"/>
          <p:nvPr/>
        </p:nvSpPr>
        <p:spPr>
          <a:xfrm>
            <a:off x="1645920" y="34747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Customers discover you through a deal, then come back at full price.</a:t>
            </a:r>
            <a:endParaRPr lang="en-US" sz="1600" dirty="0"/>
          </a:p>
        </p:txBody>
      </p:sp>
      <p:sp>
        <p:nvSpPr>
          <p:cNvPr id="11" name="Benefit 3 circle"/>
          <p:cNvSpPr/>
          <p:nvPr/>
        </p:nvSpPr>
        <p:spPr>
          <a:xfrm>
            <a:off x="548640" y="45262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Benefi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4743450"/>
            <a:ext cx="434340" cy="434340"/>
          </a:xfrm>
          <a:prstGeom prst="rect">
            <a:avLst/>
          </a:prstGeom>
        </p:spPr>
      </p:pic>
      <p:sp>
        <p:nvSpPr>
          <p:cNvPr id="13" name="Benefit 3 title"/>
          <p:cNvSpPr txBox="1"/>
          <p:nvPr/>
        </p:nvSpPr>
        <p:spPr>
          <a:xfrm>
            <a:off x="1645920" y="45079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Waste less</a:t>
            </a:r>
            <a:endParaRPr lang="en-US" sz="2200" dirty="0"/>
          </a:p>
        </p:txBody>
      </p:sp>
      <p:sp>
        <p:nvSpPr>
          <p:cNvPr id="14" name="Benefit 3 text"/>
          <p:cNvSpPr txBox="1"/>
          <p:nvPr/>
        </p:nvSpPr>
        <p:spPr>
          <a:xfrm>
            <a:off x="1645920" y="49377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Every meal sold is one less in the landfill, and a story your customers like.</a:t>
            </a:r>
            <a:endParaRPr lang="en-US" sz="1600" dirty="0"/>
          </a:p>
        </p:txBody>
      </p:sp>
      <p:sp>
        <p:nvSpPr>
          <p:cNvPr id="15" name="Customer deals screenshot frame"/>
          <p:cNvSpPr/>
          <p:nvPr/>
        </p:nvSpPr>
        <p:spPr>
          <a:xfrm>
            <a:off x="6117336" y="1545336"/>
            <a:ext cx="5596128" cy="3195828"/>
          </a:xfrm>
          <a:prstGeom prst="roundRect">
            <a:avLst>
              <a:gd name="adj" fmla="val 3433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Customer deals screenshot" descr="/tmp/claude-0/-home-user-RescueBites/e2cfd2a4-15d3-55a4-8cb5-5a18f8cff6b8/scratchpad/deck/frames/c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00200"/>
            <a:ext cx="5486400" cy="3086100"/>
          </a:xfrm>
          <a:prstGeom prst="rect">
            <a:avLst/>
          </a:prstGeom>
        </p:spPr>
      </p:pic>
      <p:sp>
        <p:nvSpPr>
          <p:cNvPr id="17" name="Screenshot caption"/>
          <p:cNvSpPr txBox="1"/>
          <p:nvPr/>
        </p:nvSpPr>
        <p:spPr>
          <a:xfrm>
            <a:off x="6172200" y="4846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What customers see: live deals near them, with distance and a pickup countdown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steps from extra food to money in the bank</a:t>
            </a:r>
            <a:endParaRPr lang="en-US" sz="3600" dirty="0"/>
          </a:p>
        </p:txBody>
      </p:sp>
      <p:sp>
        <p:nvSpPr>
          <p:cNvPr id="3" name="Step 1 connector"/>
          <p:cNvSpPr/>
          <p:nvPr/>
        </p:nvSpPr>
        <p:spPr>
          <a:xfrm>
            <a:off x="1874520" y="2377440"/>
            <a:ext cx="251460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dash"/>
          </a:ln>
        </p:spPr>
      </p:sp>
      <p:sp>
        <p:nvSpPr>
          <p:cNvPr id="4" name="Step 1 circle"/>
          <p:cNvSpPr/>
          <p:nvPr/>
        </p:nvSpPr>
        <p:spPr>
          <a:xfrm>
            <a:off x="86868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03120"/>
            <a:ext cx="548640" cy="548640"/>
          </a:xfrm>
          <a:prstGeom prst="rect">
            <a:avLst/>
          </a:prstGeom>
        </p:spPr>
      </p:pic>
      <p:sp>
        <p:nvSpPr>
          <p:cNvPr id="6" name="Step 1 number"/>
          <p:cNvSpPr txBox="1"/>
          <p:nvPr/>
        </p:nvSpPr>
        <p:spPr>
          <a:xfrm>
            <a:off x="169164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 1 title"/>
          <p:cNvSpPr txBox="1"/>
          <p:nvPr/>
        </p:nvSpPr>
        <p:spPr>
          <a:xfrm>
            <a:off x="54864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Post it</a:t>
            </a:r>
            <a:endParaRPr lang="en-US" sz="2200" dirty="0"/>
          </a:p>
        </p:txBody>
      </p:sp>
      <p:sp>
        <p:nvSpPr>
          <p:cNvPr id="8" name="Step 1 text"/>
          <p:cNvSpPr txBox="1"/>
          <p:nvPr/>
        </p:nvSpPr>
        <p:spPr>
          <a:xfrm>
            <a:off x="54864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Pick a dish from your menu, set the discount, quantity and a discard timer. About a minute.</a:t>
            </a:r>
            <a:endParaRPr lang="en-US" sz="1600" dirty="0"/>
          </a:p>
        </p:txBody>
      </p:sp>
      <p:sp>
        <p:nvSpPr>
          <p:cNvPr id="9" name="Step 2 connector"/>
          <p:cNvSpPr/>
          <p:nvPr/>
        </p:nvSpPr>
        <p:spPr>
          <a:xfrm>
            <a:off x="4709160" y="2377440"/>
            <a:ext cx="251460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dash"/>
          </a:ln>
        </p:spPr>
      </p:sp>
      <p:sp>
        <p:nvSpPr>
          <p:cNvPr id="10" name="Step 2 circle"/>
          <p:cNvSpPr/>
          <p:nvPr/>
        </p:nvSpPr>
        <p:spPr>
          <a:xfrm>
            <a:off x="370332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2103120"/>
            <a:ext cx="548640" cy="548640"/>
          </a:xfrm>
          <a:prstGeom prst="rect">
            <a:avLst/>
          </a:prstGeom>
        </p:spPr>
      </p:pic>
      <p:sp>
        <p:nvSpPr>
          <p:cNvPr id="12" name="Step 2 number"/>
          <p:cNvSpPr txBox="1"/>
          <p:nvPr/>
        </p:nvSpPr>
        <p:spPr>
          <a:xfrm>
            <a:off x="452628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 2 title"/>
          <p:cNvSpPr txBox="1"/>
          <p:nvPr/>
        </p:nvSpPr>
        <p:spPr>
          <a:xfrm>
            <a:off x="338328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 bell rings</a:t>
            </a:r>
            <a:endParaRPr lang="en-US" sz="2200" dirty="0"/>
          </a:p>
        </p:txBody>
      </p:sp>
      <p:sp>
        <p:nvSpPr>
          <p:cNvPr id="14" name="Step 2 text"/>
          <p:cNvSpPr txBox="1"/>
          <p:nvPr/>
        </p:nvSpPr>
        <p:spPr>
          <a:xfrm>
            <a:off x="338328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nearby customer orders. Their card is only held, not charged, for now.</a:t>
            </a:r>
            <a:endParaRPr lang="en-US" sz="1600" dirty="0"/>
          </a:p>
        </p:txBody>
      </p:sp>
      <p:sp>
        <p:nvSpPr>
          <p:cNvPr id="15" name="Step 3 connector"/>
          <p:cNvSpPr/>
          <p:nvPr/>
        </p:nvSpPr>
        <p:spPr>
          <a:xfrm>
            <a:off x="7543800" y="2377440"/>
            <a:ext cx="251460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dash"/>
          </a:ln>
        </p:spPr>
      </p:sp>
      <p:sp>
        <p:nvSpPr>
          <p:cNvPr id="16" name="Step 3 circle"/>
          <p:cNvSpPr/>
          <p:nvPr/>
        </p:nvSpPr>
        <p:spPr>
          <a:xfrm>
            <a:off x="653796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103120"/>
            <a:ext cx="548640" cy="548640"/>
          </a:xfrm>
          <a:prstGeom prst="rect">
            <a:avLst/>
          </a:prstGeom>
        </p:spPr>
      </p:pic>
      <p:sp>
        <p:nvSpPr>
          <p:cNvPr id="18" name="Step 3 number"/>
          <p:cNvSpPr txBox="1"/>
          <p:nvPr/>
        </p:nvSpPr>
        <p:spPr>
          <a:xfrm>
            <a:off x="736092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 3 title"/>
          <p:cNvSpPr txBox="1"/>
          <p:nvPr/>
        </p:nvSpPr>
        <p:spPr>
          <a:xfrm>
            <a:off x="621792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Check the PIN</a:t>
            </a:r>
            <a:endParaRPr lang="en-US" sz="2200" dirty="0"/>
          </a:p>
        </p:txBody>
      </p:sp>
      <p:sp>
        <p:nvSpPr>
          <p:cNvPr id="20" name="Step 3 text"/>
          <p:cNvSpPr txBox="1"/>
          <p:nvPr/>
        </p:nvSpPr>
        <p:spPr>
          <a:xfrm>
            <a:off x="621792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 the counter, type the customer's 4-digit pickup PIN and hand over the food.</a:t>
            </a:r>
            <a:endParaRPr lang="en-US" sz="1600" dirty="0"/>
          </a:p>
        </p:txBody>
      </p:sp>
      <p:sp>
        <p:nvSpPr>
          <p:cNvPr id="21" name="Step 4 circle"/>
          <p:cNvSpPr/>
          <p:nvPr/>
        </p:nvSpPr>
        <p:spPr>
          <a:xfrm>
            <a:off x="937260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2103120"/>
            <a:ext cx="548640" cy="548640"/>
          </a:xfrm>
          <a:prstGeom prst="rect">
            <a:avLst/>
          </a:prstGeom>
        </p:spPr>
      </p:pic>
      <p:sp>
        <p:nvSpPr>
          <p:cNvPr id="23" name="Step 4 number"/>
          <p:cNvSpPr txBox="1"/>
          <p:nvPr/>
        </p:nvSpPr>
        <p:spPr>
          <a:xfrm>
            <a:off x="1019556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Step 4 title"/>
          <p:cNvSpPr txBox="1"/>
          <p:nvPr/>
        </p:nvSpPr>
        <p:spPr>
          <a:xfrm>
            <a:off x="905256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Get paid</a:t>
            </a:r>
            <a:endParaRPr lang="en-US" sz="2200" dirty="0"/>
          </a:p>
        </p:txBody>
      </p:sp>
      <p:sp>
        <p:nvSpPr>
          <p:cNvPr id="25" name="Step 4 text"/>
          <p:cNvSpPr txBox="1"/>
          <p:nvPr/>
        </p:nvSpPr>
        <p:spPr>
          <a:xfrm>
            <a:off x="905256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card is charged at pickup, and your share goes to your Stripe account.</a:t>
            </a:r>
            <a:endParaRPr lang="en-US" sz="1600" dirty="0"/>
          </a:p>
        </p:txBody>
      </p:sp>
      <p:sp>
        <p:nvSpPr>
          <p:cNvPr id="26" name="No-show note"/>
          <p:cNvSpPr txBox="1"/>
          <p:nvPr/>
        </p:nvSpPr>
        <p:spPr>
          <a:xfrm>
            <a:off x="548640" y="5486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No-shows are released automatically when the discard timer ends, and the customer is not charged.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Post an offer in about a minute</a:t>
            </a:r>
            <a:endParaRPr lang="en-US" sz="3600" dirty="0"/>
          </a:p>
        </p:txBody>
      </p:sp>
      <p:sp>
        <p:nvSpPr>
          <p:cNvPr id="3" name="Offers screenshot frame"/>
          <p:cNvSpPr/>
          <p:nvPr/>
        </p:nvSpPr>
        <p:spPr>
          <a:xfrm>
            <a:off x="539496" y="1408176"/>
            <a:ext cx="6784848" cy="3864483"/>
          </a:xfrm>
          <a:prstGeom prst="roundRect">
            <a:avLst>
              <a:gd name="adj" fmla="val 283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Offers screenshot" descr="/tmp/claude-0/-home-user-RescueBites/e2cfd2a4-15d3-55a4-8cb5-5a18f8cff6b8/scratchpad/deck/frames/r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675120" cy="3754755"/>
          </a:xfrm>
          <a:prstGeom prst="rect">
            <a:avLst/>
          </a:prstGeom>
        </p:spPr>
      </p:pic>
      <p:pic>
        <p:nvPicPr>
          <p:cNvPr id="5" name="Feature 1 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99616"/>
            <a:ext cx="292608" cy="292608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80924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Pick from your menu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092440" y="1828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Photos, dietary tags and allergen notes come with it. Import your menu from your website or a file.</a:t>
            </a:r>
            <a:endParaRPr lang="en-US" sz="1400" dirty="0"/>
          </a:p>
        </p:txBody>
      </p:sp>
      <p:pic>
        <p:nvPicPr>
          <p:cNvPr id="8" name="Feature 2 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523744"/>
            <a:ext cx="292608" cy="292608"/>
          </a:xfrm>
          <a:prstGeom prst="rect">
            <a:avLst/>
          </a:prstGeom>
        </p:spPr>
      </p:pic>
      <p:sp>
        <p:nvSpPr>
          <p:cNvPr id="9" name="Feature 2 title"/>
          <p:cNvSpPr txBox="1"/>
          <p:nvPr/>
        </p:nvSpPr>
        <p:spPr>
          <a:xfrm>
            <a:off x="8092440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Discard timers</a:t>
            </a:r>
            <a:endParaRPr lang="en-US" sz="1800" dirty="0"/>
          </a:p>
        </p:txBody>
      </p:sp>
      <p:sp>
        <p:nvSpPr>
          <p:cNvPr id="10" name="Feature 2 text"/>
          <p:cNvSpPr txBox="1"/>
          <p:nvPr/>
        </p:nvSpPr>
        <p:spPr>
          <a:xfrm>
            <a:off x="8092440" y="285292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offer ends when the food stops being safe to sell. Extend it with one tap.</a:t>
            </a:r>
            <a:endParaRPr lang="en-US" sz="1400" dirty="0"/>
          </a:p>
        </p:txBody>
      </p:sp>
      <p:pic>
        <p:nvPicPr>
          <p:cNvPr id="11" name="Feature 3 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547872"/>
            <a:ext cx="292608" cy="292608"/>
          </a:xfrm>
          <a:prstGeom prst="rect">
            <a:avLst/>
          </a:prstGeom>
        </p:spPr>
      </p:pic>
      <p:sp>
        <p:nvSpPr>
          <p:cNvPr id="12" name="Feature 3 title"/>
          <p:cNvSpPr txBox="1"/>
          <p:nvPr/>
        </p:nvSpPr>
        <p:spPr>
          <a:xfrm>
            <a:off x="8092440" y="3511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Pause, edit or end</a:t>
            </a:r>
            <a:endParaRPr lang="en-US" sz="1800" dirty="0"/>
          </a:p>
        </p:txBody>
      </p:sp>
      <p:sp>
        <p:nvSpPr>
          <p:cNvPr id="13" name="Feature 3 text"/>
          <p:cNvSpPr txBox="1"/>
          <p:nvPr/>
        </p:nvSpPr>
        <p:spPr>
          <a:xfrm>
            <a:off x="8092440" y="387705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Stay in control of every offer, any time.</a:t>
            </a:r>
            <a:endParaRPr lang="en-US" sz="1400" dirty="0"/>
          </a:p>
        </p:txBody>
      </p:sp>
      <p:pic>
        <p:nvPicPr>
          <p:cNvPr id="14" name="Feature 4 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572000"/>
            <a:ext cx="292608" cy="292608"/>
          </a:xfrm>
          <a:prstGeom prst="rect">
            <a:avLst/>
          </a:prstGeom>
        </p:spPr>
      </p:pic>
      <p:sp>
        <p:nvSpPr>
          <p:cNvPr id="15" name="Feature 4 title"/>
          <p:cNvSpPr txBox="1"/>
          <p:nvPr/>
        </p:nvSpPr>
        <p:spPr>
          <a:xfrm>
            <a:off x="8092440" y="4535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Your whole team</a:t>
            </a:r>
            <a:endParaRPr lang="en-US" sz="1800" dirty="0"/>
          </a:p>
        </p:txBody>
      </p:sp>
      <p:sp>
        <p:nvSpPr>
          <p:cNvPr id="16" name="Feature 4 text"/>
          <p:cNvSpPr txBox="1"/>
          <p:nvPr/>
        </p:nvSpPr>
        <p:spPr>
          <a:xfrm>
            <a:off x="8092440" y="4901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Add managers and supervisors with their own logins.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Counter kiosk on any tablet, payouts at every pickup</a:t>
            </a:r>
            <a:endParaRPr lang="en-US" sz="3600" dirty="0"/>
          </a:p>
        </p:txBody>
      </p:sp>
      <p:sp>
        <p:nvSpPr>
          <p:cNvPr id="3" name="Verify pickup screenshot frame"/>
          <p:cNvSpPr/>
          <p:nvPr/>
        </p:nvSpPr>
        <p:spPr>
          <a:xfrm>
            <a:off x="539496" y="1453896"/>
            <a:ext cx="5458968" cy="3118676"/>
          </a:xfrm>
          <a:prstGeom prst="roundRect">
            <a:avLst>
              <a:gd name="adj" fmla="val 351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Verify pickup screenshot" descr="/tmp/claude-0/-home-user-RescueBites/e2cfd2a4-15d3-55a4-8cb5-5a18f8cff6b8/scratchpad/deck/frames/r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49240" cy="3008948"/>
          </a:xfrm>
          <a:prstGeom prst="rect">
            <a:avLst/>
          </a:prstGeom>
        </p:spPr>
      </p:pic>
      <p:sp>
        <p:nvSpPr>
          <p:cNvPr id="5" name="Payouts screenshot frame"/>
          <p:cNvSpPr/>
          <p:nvPr/>
        </p:nvSpPr>
        <p:spPr>
          <a:xfrm>
            <a:off x="6208776" y="1453896"/>
            <a:ext cx="5458968" cy="3118676"/>
          </a:xfrm>
          <a:prstGeom prst="roundRect">
            <a:avLst>
              <a:gd name="adj" fmla="val 351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Payouts screenshot" descr="/tmp/claude-0/-home-user-RescueBites/e2cfd2a4-15d3-55a4-8cb5-5a18f8cff6b8/scratchpad/deck/frames/r5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08760"/>
            <a:ext cx="5349240" cy="3008948"/>
          </a:xfrm>
          <a:prstGeom prst="rect">
            <a:avLst/>
          </a:prstGeom>
        </p:spPr>
      </p:pic>
      <p:sp>
        <p:nvSpPr>
          <p:cNvPr id="7" name="Kiosk text"/>
          <p:cNvSpPr txBox="1"/>
          <p:nvPr/>
        </p:nvSpPr>
        <p:spPr>
          <a:xfrm>
            <a:off x="59436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Counter kiosk.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Open your private kiosk link on any Android tablet or iPad. New orders ring a bell; staff type the PIN. No special hardware.</a:t>
            </a:r>
            <a:endParaRPr lang="en-US" sz="1500" dirty="0"/>
          </a:p>
        </p:txBody>
      </p:sp>
      <p:sp>
        <p:nvSpPr>
          <p:cNvPr id="8" name="Payouts text"/>
          <p:cNvSpPr txBox="1"/>
          <p:nvPr/>
        </p:nvSpPr>
        <p:spPr>
          <a:xfrm>
            <a:off x="6263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Payouts and reports.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Every payment with its invoice number, in US or Canadian dollars. Daily sales reports with print, PDF and CSV.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simple plan, and no commission on your food sales</a:t>
            </a:r>
            <a:endParaRPr lang="en-US" sz="3600" dirty="0"/>
          </a:p>
        </p:txBody>
      </p:sp>
      <p:sp>
        <p:nvSpPr>
          <p:cNvPr id="3" name="Pioneer Member card"/>
          <p:cNvSpPr/>
          <p:nvPr/>
        </p:nvSpPr>
        <p:spPr>
          <a:xfrm>
            <a:off x="548640" y="150876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Popular badge"/>
          <p:cNvSpPr txBox="1"/>
          <p:nvPr/>
        </p:nvSpPr>
        <p:spPr>
          <a:xfrm>
            <a:off x="868680" y="1783080"/>
            <a:ext cx="17373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ONLY 50 SPOTS</a:t>
            </a:r>
            <a:endParaRPr lang="en-US" sz="1100" dirty="0"/>
          </a:p>
        </p:txBody>
      </p:sp>
      <p:sp>
        <p:nvSpPr>
          <p:cNvPr id="5" name="Pioneer Member name"/>
          <p:cNvSpPr txBox="1"/>
          <p:nvPr/>
        </p:nvSpPr>
        <p:spPr>
          <a:xfrm>
            <a:off x="868680" y="2240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Pioneer Member</a:t>
            </a:r>
            <a:endParaRPr lang="en-US" sz="2000" dirty="0"/>
          </a:p>
        </p:txBody>
      </p:sp>
      <p:sp>
        <p:nvSpPr>
          <p:cNvPr id="6" name="Pioneer Member price"/>
          <p:cNvSpPr txBox="1"/>
          <p:nvPr/>
        </p:nvSpPr>
        <p:spPr>
          <a:xfrm>
            <a:off x="868680" y="2697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$0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 free for life</a:t>
            </a:r>
            <a:endParaRPr lang="en-US" sz="5400" dirty="0"/>
          </a:p>
        </p:txBody>
      </p:sp>
      <p:sp>
        <p:nvSpPr>
          <p:cNvPr id="7" name="Pioneer Member audience"/>
          <p:cNvSpPr txBox="1"/>
          <p:nvPr/>
        </p:nvSpPr>
        <p:spPr>
          <a:xfrm>
            <a:off x="8686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The first 50 restaurants approved</a:t>
            </a:r>
            <a:endParaRPr lang="en-US" sz="1400" dirty="0"/>
          </a:p>
        </p:txBody>
      </p:sp>
      <p:sp>
        <p:nvSpPr>
          <p:cNvPr id="8" name="Pioneer Member points"/>
          <p:cNvSpPr txBox="1"/>
          <p:nvPr/>
        </p:nvSpPr>
        <p:spPr>
          <a:xfrm>
            <a:off x="86868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card needed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Every feature included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Spot assigned in order of approval</a:t>
            </a:r>
            <a:endParaRPr lang="en-US" sz="1400" dirty="0"/>
          </a:p>
        </p:txBody>
      </p:sp>
      <p:sp>
        <p:nvSpPr>
          <p:cNvPr id="9" name="Monthly card"/>
          <p:cNvSpPr/>
          <p:nvPr/>
        </p:nvSpPr>
        <p:spPr>
          <a:xfrm>
            <a:off x="4297680" y="150876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Monthly name"/>
          <p:cNvSpPr txBox="1"/>
          <p:nvPr/>
        </p:nvSpPr>
        <p:spPr>
          <a:xfrm>
            <a:off x="4617720" y="2240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Monthly</a:t>
            </a:r>
            <a:endParaRPr lang="en-US" sz="2000" dirty="0"/>
          </a:p>
        </p:txBody>
      </p:sp>
      <p:sp>
        <p:nvSpPr>
          <p:cNvPr id="11" name="Monthly price"/>
          <p:cNvSpPr txBox="1"/>
          <p:nvPr/>
        </p:nvSpPr>
        <p:spPr>
          <a:xfrm>
            <a:off x="4617720" y="2697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$15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per month</a:t>
            </a:r>
            <a:endParaRPr lang="en-US" sz="5400" dirty="0"/>
          </a:p>
        </p:txBody>
      </p:sp>
      <p:sp>
        <p:nvSpPr>
          <p:cNvPr id="12" name="Monthly audience"/>
          <p:cNvSpPr txBox="1"/>
          <p:nvPr/>
        </p:nvSpPr>
        <p:spPr>
          <a:xfrm>
            <a:off x="461772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Any approved restaurant</a:t>
            </a:r>
            <a:endParaRPr lang="en-US" sz="1400" dirty="0"/>
          </a:p>
        </p:txBody>
      </p:sp>
      <p:sp>
        <p:nvSpPr>
          <p:cNvPr id="13" name="Monthly points"/>
          <p:cNvSpPr txBox="1"/>
          <p:nvPr/>
        </p:nvSpPr>
        <p:spPr>
          <a:xfrm>
            <a:off x="461772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Charged monthly in advance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Turn off auto-renewal any time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feature included</a:t>
            </a:r>
            <a:endParaRPr lang="en-US" sz="1400" dirty="0"/>
          </a:p>
        </p:txBody>
      </p:sp>
      <p:sp>
        <p:nvSpPr>
          <p:cNvPr id="14" name="Annual card"/>
          <p:cNvSpPr/>
          <p:nvPr/>
        </p:nvSpPr>
        <p:spPr>
          <a:xfrm>
            <a:off x="8046720" y="150876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Annual name"/>
          <p:cNvSpPr txBox="1"/>
          <p:nvPr/>
        </p:nvSpPr>
        <p:spPr>
          <a:xfrm>
            <a:off x="8366760" y="2240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Annual</a:t>
            </a:r>
            <a:endParaRPr lang="en-US" sz="2000" dirty="0"/>
          </a:p>
        </p:txBody>
      </p:sp>
      <p:sp>
        <p:nvSpPr>
          <p:cNvPr id="16" name="Annual price"/>
          <p:cNvSpPr txBox="1"/>
          <p:nvPr/>
        </p:nvSpPr>
        <p:spPr>
          <a:xfrm>
            <a:off x="8366760" y="2697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$150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per year</a:t>
            </a:r>
            <a:endParaRPr lang="en-US" sz="5400" dirty="0"/>
          </a:p>
        </p:txBody>
      </p:sp>
      <p:sp>
        <p:nvSpPr>
          <p:cNvPr id="17" name="Annual audience"/>
          <p:cNvSpPr txBox="1"/>
          <p:nvPr/>
        </p:nvSpPr>
        <p:spPr>
          <a:xfrm>
            <a:off x="8366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Any approved restaurant</a:t>
            </a:r>
            <a:endParaRPr lang="en-US" sz="1400" dirty="0"/>
          </a:p>
        </p:txBody>
      </p:sp>
      <p:sp>
        <p:nvSpPr>
          <p:cNvPr id="18" name="Annual points"/>
          <p:cNvSpPr txBox="1"/>
          <p:nvPr/>
        </p:nvSpPr>
        <p:spPr>
          <a:xfrm>
            <a:off x="836676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Save $30 a year ($12.50/month)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Reminder a week before renewal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feature included</a:t>
            </a:r>
            <a:endParaRPr lang="en-US" sz="1400" dirty="0"/>
          </a:p>
        </p:txBody>
      </p:sp>
      <p:sp>
        <p:nvSpPr>
          <p:cNvPr id="19" name="Pricing footnote"/>
          <p:cNvSpPr txBox="1"/>
          <p:nvPr/>
        </p:nvSpPr>
        <p:spPr>
          <a:xfrm>
            <a:off x="548640" y="55778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You receive the full discounted price of every meal you sell, plus its sales tax. Customers pay a separate ResDish service fee on top. ResDish promotional coupons may reduce the food price as set out in the Restaurant Partner Agreement. Plans are billed in US or Canadian dollars.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Five meals a day can add up to about $1,200 a month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An illustrative example. Your numbers will differ.</a:t>
            </a:r>
            <a:endParaRPr lang="en-US" sz="1800" dirty="0"/>
          </a:p>
        </p:txBody>
      </p:sp>
      <p:sp>
        <p:nvSpPr>
          <p:cNvPr id="4" name="Assumption 1 value"/>
          <p:cNvSpPr txBox="1"/>
          <p:nvPr/>
        </p:nvSpPr>
        <p:spPr>
          <a:xfrm>
            <a:off x="548640" y="18745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5" name="Assumption 1 label"/>
          <p:cNvSpPr txBox="1"/>
          <p:nvPr/>
        </p:nvSpPr>
        <p:spPr>
          <a:xfrm>
            <a:off x="2194560" y="1874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surplus meals sold per day</a:t>
            </a:r>
            <a:endParaRPr lang="en-US" sz="1800" dirty="0"/>
          </a:p>
        </p:txBody>
      </p:sp>
      <p:sp>
        <p:nvSpPr>
          <p:cNvPr id="6" name="Assumption 2 value"/>
          <p:cNvSpPr txBox="1"/>
          <p:nvPr/>
        </p:nvSpPr>
        <p:spPr>
          <a:xfrm>
            <a:off x="54864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$8</a:t>
            </a:r>
            <a:endParaRPr lang="en-US" sz="5400" dirty="0"/>
          </a:p>
        </p:txBody>
      </p:sp>
      <p:sp>
        <p:nvSpPr>
          <p:cNvPr id="7" name="Assumption 2 label"/>
          <p:cNvSpPr txBox="1"/>
          <p:nvPr/>
        </p:nvSpPr>
        <p:spPr>
          <a:xfrm>
            <a:off x="2194560" y="3108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average discounted price</a:t>
            </a:r>
            <a:endParaRPr lang="en-US" sz="1800" dirty="0"/>
          </a:p>
        </p:txBody>
      </p:sp>
      <p:sp>
        <p:nvSpPr>
          <p:cNvPr id="8" name="Assumption 3 value"/>
          <p:cNvSpPr txBox="1"/>
          <p:nvPr/>
        </p:nvSpPr>
        <p:spPr>
          <a:xfrm>
            <a:off x="548640" y="4343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30</a:t>
            </a:r>
            <a:endParaRPr lang="en-US" sz="5400" dirty="0"/>
          </a:p>
        </p:txBody>
      </p:sp>
      <p:sp>
        <p:nvSpPr>
          <p:cNvPr id="9" name="Assumption 3 label"/>
          <p:cNvSpPr txBox="1"/>
          <p:nvPr/>
        </p:nvSpPr>
        <p:spPr>
          <a:xfrm>
            <a:off x="2194560" y="43434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days open per month</a:t>
            </a:r>
            <a:endParaRPr lang="en-US" sz="1800" dirty="0"/>
          </a:p>
        </p:txBody>
      </p:sp>
      <p:graphicFrame>
        <p:nvGraphicFramePr>
          <p:cNvPr id="10" name="Revenue chart" descr=""/>
          <p:cNvGraphicFramePr/>
          <p:nvPr/>
        </p:nvGraphicFramePr>
        <p:xfrm>
          <a:off x="5760720" y="1737360"/>
          <a:ext cx="5852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Illustration note"/>
          <p:cNvSpPr txBox="1"/>
          <p:nvPr/>
        </p:nvSpPr>
        <p:spPr>
          <a:xfrm>
            <a:off x="548640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Pioneer Members pay $0, so every dollar is recovered revenue. Figures are for illustration only, not a forecast or guarantee of sales.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Built so you never lose out on an order</a:t>
            </a:r>
            <a:endParaRPr lang="en-US" sz="3600" dirty="0"/>
          </a:p>
        </p:txBody>
      </p:sp>
      <p:sp>
        <p:nvSpPr>
          <p:cNvPr id="3" name="Trust 1 card"/>
          <p:cNvSpPr/>
          <p:nvPr/>
        </p:nvSpPr>
        <p:spPr>
          <a:xfrm>
            <a:off x="548640" y="150876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rust 1 circle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Trus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rust 1 title"/>
          <p:cNvSpPr txBox="1"/>
          <p:nvPr/>
        </p:nvSpPr>
        <p:spPr>
          <a:xfrm>
            <a:off x="1600200" y="1783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Card hold, then charge</a:t>
            </a:r>
            <a:endParaRPr lang="en-US" sz="1800" dirty="0"/>
          </a:p>
        </p:txBody>
      </p:sp>
      <p:sp>
        <p:nvSpPr>
          <p:cNvPr id="7" name="Trust 1 text"/>
          <p:cNvSpPr txBox="1"/>
          <p:nvPr/>
        </p:nvSpPr>
        <p:spPr>
          <a:xfrm>
            <a:off x="82296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card is held when the customer orders and charged at pickup.</a:t>
            </a:r>
            <a:endParaRPr lang="en-US" sz="1400" dirty="0"/>
          </a:p>
        </p:txBody>
      </p:sp>
      <p:sp>
        <p:nvSpPr>
          <p:cNvPr id="8" name="Trust 2 card"/>
          <p:cNvSpPr/>
          <p:nvPr/>
        </p:nvSpPr>
        <p:spPr>
          <a:xfrm>
            <a:off x="4297680" y="150876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rust 2 circle"/>
          <p:cNvSpPr/>
          <p:nvPr/>
        </p:nvSpPr>
        <p:spPr>
          <a:xfrm>
            <a:off x="4572000" y="1783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Trus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943100"/>
            <a:ext cx="320040" cy="320040"/>
          </a:xfrm>
          <a:prstGeom prst="rect">
            <a:avLst/>
          </a:prstGeom>
        </p:spPr>
      </p:pic>
      <p:sp>
        <p:nvSpPr>
          <p:cNvPr id="11" name="Trust 2 title"/>
          <p:cNvSpPr txBox="1"/>
          <p:nvPr/>
        </p:nvSpPr>
        <p:spPr>
          <a:xfrm>
            <a:off x="5349240" y="1783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Pickup PIN</a:t>
            </a:r>
            <a:endParaRPr lang="en-US" sz="1800" dirty="0"/>
          </a:p>
        </p:txBody>
      </p:sp>
      <p:sp>
        <p:nvSpPr>
          <p:cNvPr id="12" name="Trust 2 text"/>
          <p:cNvSpPr txBox="1"/>
          <p:nvPr/>
        </p:nvSpPr>
        <p:spPr>
          <a:xfrm>
            <a:off x="457200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order has its own 4-digit PIN, so the right food goes to the right person.</a:t>
            </a:r>
            <a:endParaRPr lang="en-US" sz="1400" dirty="0"/>
          </a:p>
        </p:txBody>
      </p:sp>
      <p:sp>
        <p:nvSpPr>
          <p:cNvPr id="13" name="Trust 3 card"/>
          <p:cNvSpPr/>
          <p:nvPr/>
        </p:nvSpPr>
        <p:spPr>
          <a:xfrm>
            <a:off x="8046720" y="150876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rust 3 circle"/>
          <p:cNvSpPr/>
          <p:nvPr/>
        </p:nvSpPr>
        <p:spPr>
          <a:xfrm>
            <a:off x="8321040" y="1783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Trus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943100"/>
            <a:ext cx="320040" cy="320040"/>
          </a:xfrm>
          <a:prstGeom prst="rect">
            <a:avLst/>
          </a:prstGeom>
        </p:spPr>
      </p:pic>
      <p:sp>
        <p:nvSpPr>
          <p:cNvPr id="16" name="Trust 3 title"/>
          <p:cNvSpPr txBox="1"/>
          <p:nvPr/>
        </p:nvSpPr>
        <p:spPr>
          <a:xfrm>
            <a:off x="9098280" y="1783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Real customers</a:t>
            </a:r>
            <a:endParaRPr lang="en-US" sz="1800" dirty="0"/>
          </a:p>
        </p:txBody>
      </p:sp>
      <p:sp>
        <p:nvSpPr>
          <p:cNvPr id="17" name="Trust 3 text"/>
          <p:cNvSpPr txBox="1"/>
          <p:nvPr/>
        </p:nvSpPr>
        <p:spPr>
          <a:xfrm>
            <a:off x="832104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Fake and throwaway emails are refused. Repeat no-shows are suspended, then banned.</a:t>
            </a:r>
            <a:endParaRPr lang="en-US" sz="1400" dirty="0"/>
          </a:p>
        </p:txBody>
      </p:sp>
      <p:sp>
        <p:nvSpPr>
          <p:cNvPr id="18" name="Trust 4 card"/>
          <p:cNvSpPr/>
          <p:nvPr/>
        </p:nvSpPr>
        <p:spPr>
          <a:xfrm>
            <a:off x="548640" y="374904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9" name="Trust 4 circle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Trus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183380"/>
            <a:ext cx="320040" cy="320040"/>
          </a:xfrm>
          <a:prstGeom prst="rect">
            <a:avLst/>
          </a:prstGeom>
        </p:spPr>
      </p:pic>
      <p:sp>
        <p:nvSpPr>
          <p:cNvPr id="21" name="Trust 4 title"/>
          <p:cNvSpPr txBox="1"/>
          <p:nvPr/>
        </p:nvSpPr>
        <p:spPr>
          <a:xfrm>
            <a:off x="160020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Taxes handled</a:t>
            </a:r>
            <a:endParaRPr lang="en-US" sz="1800" dirty="0"/>
          </a:p>
        </p:txBody>
      </p:sp>
      <p:sp>
        <p:nvSpPr>
          <p:cNvPr id="22" name="Trust 4 text"/>
          <p:cNvSpPr txBox="1"/>
          <p:nvPr/>
        </p:nvSpPr>
        <p:spPr>
          <a:xfrm>
            <a:off x="82296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Sales tax is set from your address and shown on every receipt and report.</a:t>
            </a:r>
            <a:endParaRPr lang="en-US" sz="1400" dirty="0"/>
          </a:p>
        </p:txBody>
      </p:sp>
      <p:sp>
        <p:nvSpPr>
          <p:cNvPr id="23" name="Trust 5 card"/>
          <p:cNvSpPr/>
          <p:nvPr/>
        </p:nvSpPr>
        <p:spPr>
          <a:xfrm>
            <a:off x="4297680" y="374904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rust 5 circle"/>
          <p:cNvSpPr/>
          <p:nvPr/>
        </p:nvSpPr>
        <p:spPr>
          <a:xfrm>
            <a:off x="4572000" y="4023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Trus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183380"/>
            <a:ext cx="320040" cy="320040"/>
          </a:xfrm>
          <a:prstGeom prst="rect">
            <a:avLst/>
          </a:prstGeom>
        </p:spPr>
      </p:pic>
      <p:sp>
        <p:nvSpPr>
          <p:cNvPr id="26" name="Trust 5 title"/>
          <p:cNvSpPr txBox="1"/>
          <p:nvPr/>
        </p:nvSpPr>
        <p:spPr>
          <a:xfrm>
            <a:off x="534924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We handle support</a:t>
            </a:r>
            <a:endParaRPr lang="en-US" sz="1800" dirty="0"/>
          </a:p>
        </p:txBody>
      </p:sp>
      <p:sp>
        <p:nvSpPr>
          <p:cNvPr id="27" name="Trust 5 text"/>
          <p:cNvSpPr txBox="1"/>
          <p:nvPr/>
        </p:nvSpPr>
        <p:spPr>
          <a:xfrm>
            <a:off x="457200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Customer questions, refunds and credit are handled by ResDish.</a:t>
            </a:r>
            <a:endParaRPr lang="en-US" sz="1400" dirty="0"/>
          </a:p>
        </p:txBody>
      </p:sp>
      <p:sp>
        <p:nvSpPr>
          <p:cNvPr id="28" name="Trust 6 card"/>
          <p:cNvSpPr/>
          <p:nvPr/>
        </p:nvSpPr>
        <p:spPr>
          <a:xfrm>
            <a:off x="8046720" y="374904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rust 6 circle"/>
          <p:cNvSpPr/>
          <p:nvPr/>
        </p:nvSpPr>
        <p:spPr>
          <a:xfrm>
            <a:off x="8321040" y="4023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0" name="Trus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183380"/>
            <a:ext cx="320040" cy="320040"/>
          </a:xfrm>
          <a:prstGeom prst="rect">
            <a:avLst/>
          </a:prstGeom>
        </p:spPr>
      </p:pic>
      <p:sp>
        <p:nvSpPr>
          <p:cNvPr id="31" name="Trust 6 title"/>
          <p:cNvSpPr txBox="1"/>
          <p:nvPr/>
        </p:nvSpPr>
        <p:spPr>
          <a:xfrm>
            <a:off x="909828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 and Canada</a:t>
            </a:r>
            <a:endParaRPr lang="en-US" sz="1800" dirty="0"/>
          </a:p>
        </p:txBody>
      </p:sp>
      <p:sp>
        <p:nvSpPr>
          <p:cNvPr id="32" name="Trust 6 text"/>
          <p:cNvSpPr txBox="1"/>
          <p:nvPr/>
        </p:nvSpPr>
        <p:spPr>
          <a:xfrm>
            <a:off x="832104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Customers pay in US or Canadian dollars, by the restaurant's country.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377440" cy="685800"/>
          </a:xfrm>
          <a:prstGeom prst="rect">
            <a:avLst/>
          </a:prstGeom>
        </p:spPr>
      </p:pic>
      <p:sp>
        <p:nvSpPr>
          <p:cNvPr id="3" name="Closing headline"/>
          <p:cNvSpPr txBox="1"/>
          <p:nvPr/>
        </p:nvSpPr>
        <p:spPr>
          <a:xfrm>
            <a:off x="640080" y="1600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Start selling this week</a:t>
            </a:r>
            <a:endParaRPr lang="en-US" sz="4400" dirty="0"/>
          </a:p>
        </p:txBody>
      </p:sp>
      <p:sp>
        <p:nvSpPr>
          <p:cNvPr id="4" name="Next 1 number"/>
          <p:cNvSpPr txBox="1"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Next 1 text"/>
          <p:cNvSpPr txBox="1"/>
          <p:nvPr/>
        </p:nvSpPr>
        <p:spPr>
          <a:xfrm>
            <a:off x="137160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Sign up online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Enter your restaurant details and accept the partner agreement. A few minutes.</a:t>
            </a:r>
            <a:endParaRPr lang="en-US" sz="1800" dirty="0"/>
          </a:p>
        </p:txBody>
      </p:sp>
      <p:sp>
        <p:nvSpPr>
          <p:cNvPr id="6" name="Next 2 number"/>
          <p:cNvSpPr txBox="1"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Next 2 text"/>
          <p:cNvSpPr txBox="1"/>
          <p:nvPr/>
        </p:nvSpPr>
        <p:spPr>
          <a:xfrm>
            <a:off x="1371600" y="349300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Get approved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Usually within one business day. Set up your menu meanwhile.</a:t>
            </a:r>
            <a:endParaRPr lang="en-US" sz="1800" dirty="0"/>
          </a:p>
        </p:txBody>
      </p:sp>
      <p:sp>
        <p:nvSpPr>
          <p:cNvPr id="8" name="Next 3 number"/>
          <p:cNvSpPr txBox="1"/>
          <p:nvPr/>
        </p:nvSpPr>
        <p:spPr>
          <a:xfrm>
            <a:off x="640080" y="4434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Next 3 text"/>
          <p:cNvSpPr txBox="1"/>
          <p:nvPr/>
        </p:nvSpPr>
        <p:spPr>
          <a:xfrm>
            <a:off x="1371600" y="436168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Connect payouts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Link your bank account through Stripe, open the kiosk on a tablet.</a:t>
            </a:r>
            <a:endParaRPr lang="en-US" sz="1800" dirty="0"/>
          </a:p>
        </p:txBody>
      </p:sp>
      <p:sp>
        <p:nvSpPr>
          <p:cNvPr id="10" name="Next 4 number"/>
          <p:cNvSpPr txBox="1"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1" name="Next 4 text"/>
          <p:cNvSpPr txBox="1"/>
          <p:nvPr/>
        </p:nvSpPr>
        <p:spPr>
          <a:xfrm>
            <a:off x="1371600" y="52303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Post your first dish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listen for the bell.</a:t>
            </a:r>
            <a:endParaRPr lang="en-US" sz="1800" dirty="0"/>
          </a:p>
        </p:txBody>
      </p:sp>
      <p:sp>
        <p:nvSpPr>
          <p:cNvPr id="12" name="Offer card"/>
          <p:cNvSpPr/>
          <p:nvPr/>
        </p:nvSpPr>
        <p:spPr>
          <a:xfrm>
            <a:off x="6949440" y="1600200"/>
            <a:ext cx="4663440" cy="4206240"/>
          </a:xfrm>
          <a:prstGeom prst="roundRect">
            <a:avLst>
              <a:gd name="adj" fmla="val 4348"/>
            </a:avLst>
          </a:prstGeom>
          <a:solidFill>
            <a:schemeClr val="accent6"/>
          </a:solidFill>
          <a:ln/>
        </p:spPr>
      </p:sp>
      <p:sp>
        <p:nvSpPr>
          <p:cNvPr id="13" name="Offer circle"/>
          <p:cNvSpPr/>
          <p:nvPr/>
        </p:nvSpPr>
        <p:spPr>
          <a:xfrm>
            <a:off x="7315200" y="19659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Off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194560"/>
            <a:ext cx="457200" cy="457200"/>
          </a:xfrm>
          <a:prstGeom prst="rect">
            <a:avLst/>
          </a:prstGeom>
        </p:spPr>
      </p:pic>
      <p:sp>
        <p:nvSpPr>
          <p:cNvPr id="15" name="Offer title"/>
          <p:cNvSpPr txBox="1"/>
          <p:nvPr/>
        </p:nvSpPr>
        <p:spPr>
          <a:xfrm>
            <a:off x="7315200" y="3063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Become a Pioneer Member</a:t>
            </a:r>
            <a:endParaRPr lang="en-US" sz="2600" dirty="0"/>
          </a:p>
        </p:txBody>
      </p:sp>
      <p:sp>
        <p:nvSpPr>
          <p:cNvPr id="16" name="Offer text"/>
          <p:cNvSpPr txBox="1"/>
          <p:nvPr/>
        </p:nvSpPr>
        <p:spPr>
          <a:xfrm>
            <a:off x="731520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first 50 restaurants approved use ResDish free for life. No card, no commission, every feature.</a:t>
            </a:r>
            <a:endParaRPr lang="en-US" sz="1600" dirty="0"/>
          </a:p>
        </p:txBody>
      </p:sp>
      <p:sp>
        <p:nvSpPr>
          <p:cNvPr id="17" name="Contact"/>
          <p:cNvSpPr txBox="1"/>
          <p:nvPr/>
        </p:nvSpPr>
        <p:spPr>
          <a:xfrm>
            <a:off x="7315200" y="47548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www.bite-wise.org</a:t>
            </a:r>
            <a:endParaRPr lang="en-US" sz="1800" dirty="0"/>
          </a:p>
          <a:p>
            <a:pPr indent="0" marL="0">
              <a:buNone/>
            </a:pPr>
            <a:r>
              <a:rPr lang="en-US" sz="180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support@bite-wise.org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Dish">
  <a:themeElements>
    <a:clrScheme name="ResDish">
      <a:dk1>
        <a:srgbClr val="2A1A0E"/>
      </a:dk1>
      <a:lt1>
        <a:srgbClr val="FFFFFF"/>
      </a:lt1>
      <a:dk2>
        <a:srgbClr val="5B4636"/>
      </a:dk2>
      <a:lt2>
        <a:srgbClr val="FFF4E8"/>
      </a:lt2>
      <a:accent1>
        <a:srgbClr val="EA580C"/>
      </a:accent1>
      <a:accent2>
        <a:srgbClr val="4E9F3D"/>
      </a:accent2>
      <a:accent3>
        <a:srgbClr val="FFEDD5"/>
      </a:accent3>
      <a:accent4>
        <a:srgbClr val="E6F4DF"/>
      </a:accent4>
      <a:accent5>
        <a:srgbClr val="C2410C"/>
      </a:accent5>
      <a:accent6>
        <a:srgbClr val="3A2616"/>
      </a:accent6>
      <a:hlink>
        <a:srgbClr val="C2410C"/>
      </a:hlink>
      <a:folHlink>
        <a:srgbClr val="7C2D12"/>
      </a:folHlink>
    </a:clrScheme>
    <a:fontScheme name="ResDis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ResDish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ResDish for Restaurants</dc:title>
  <dc:subject>PptxGenJS Presentation</dc:subject>
  <dc:creator>ResDish</dc:creator>
  <cp:lastModifiedBy>ResDish</cp:lastModifiedBy>
  <cp:revision>1</cp:revision>
  <dcterms:created xsi:type="dcterms:W3CDTF">2026-10-16T19:03:41Z</dcterms:created>
  <dcterms:modified xsi:type="dcterms:W3CDTF">2026-10-16T19:03:41Z</dcterms:modified>
</cp:coreProperties>
</file>